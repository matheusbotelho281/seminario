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7" r:id="rId2"/>
    <p:sldId id="259"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FAC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96"/>
    <p:restoredTop sz="94815"/>
  </p:normalViewPr>
  <p:slideViewPr>
    <p:cSldViewPr>
      <p:cViewPr varScale="1">
        <p:scale>
          <a:sx n="80" d="100"/>
          <a:sy n="80" d="100"/>
        </p:scale>
        <p:origin x="1493"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B89D69-539F-4876-A768-CC7BF3CEAE46}" type="datetimeFigureOut">
              <a:rPr lang="pt-BR" smtClean="0"/>
              <a:t>15/06/2026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21E30F1-121B-4E7A-9FEB-C420521CED3F}" type="slidenum">
              <a:rPr lang="pt-BR" smtClean="0"/>
              <a:t>‹nº›</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bg>
      <p:bgRef idx="1002">
        <a:schemeClr val="bg2"/>
      </p:bgRef>
    </p:bg>
    <p:spTree>
      <p:nvGrpSpPr>
        <p:cNvPr id="1" name=""/>
        <p:cNvGrpSpPr/>
        <p:nvPr/>
      </p:nvGrpSpPr>
      <p:grpSpPr>
        <a:xfrm>
          <a:off x="0" y="0"/>
          <a:ext cx="0" cy="0"/>
          <a:chOff x="0" y="0"/>
          <a:chExt cx="0" cy="0"/>
        </a:xfrm>
      </p:grpSpPr>
      <p:sp>
        <p:nvSpPr>
          <p:cNvPr id="9" name="Título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pt-BR"/>
              <a:t>Clique para editar o estilo do título mestre</a:t>
            </a:r>
            <a:endParaRPr kumimoji="0" lang="en-US"/>
          </a:p>
        </p:txBody>
      </p:sp>
      <p:sp>
        <p:nvSpPr>
          <p:cNvPr id="17" name="Subtítulo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pt-BR"/>
              <a:t>Clique para editar o estilo do subtítulo mestre</a:t>
            </a:r>
            <a:endParaRPr kumimoji="0" lang="en-US"/>
          </a:p>
        </p:txBody>
      </p:sp>
      <p:sp>
        <p:nvSpPr>
          <p:cNvPr id="30" name="Espaço Reservado para Data 29"/>
          <p:cNvSpPr>
            <a:spLocks noGrp="1"/>
          </p:cNvSpPr>
          <p:nvPr>
            <p:ph type="dt" sz="half" idx="10"/>
          </p:nvPr>
        </p:nvSpPr>
        <p:spPr/>
        <p:txBody>
          <a:bodyPr/>
          <a:lstStyle/>
          <a:p>
            <a:fld id="{0C23CBC9-F0B6-4884-876A-5B206B889F1D}" type="datetimeFigureOut">
              <a:rPr lang="pt-BR" smtClean="0"/>
              <a:t>15/06/2026</a:t>
            </a:fld>
            <a:endParaRPr lang="pt-BR"/>
          </a:p>
        </p:txBody>
      </p:sp>
      <p:sp>
        <p:nvSpPr>
          <p:cNvPr id="19" name="Espaço Reservado para Rodapé 18"/>
          <p:cNvSpPr>
            <a:spLocks noGrp="1"/>
          </p:cNvSpPr>
          <p:nvPr>
            <p:ph type="ftr" sz="quarter" idx="11"/>
          </p:nvPr>
        </p:nvSpPr>
        <p:spPr/>
        <p:txBody>
          <a:bodyPr/>
          <a:lstStyle/>
          <a:p>
            <a:endParaRPr lang="pt-BR"/>
          </a:p>
        </p:txBody>
      </p:sp>
      <p:sp>
        <p:nvSpPr>
          <p:cNvPr id="27" name="Espaço Reservado para Número de Slide 26"/>
          <p:cNvSpPr>
            <a:spLocks noGrp="1"/>
          </p:cNvSpPr>
          <p:nvPr>
            <p:ph type="sldNum" sz="quarter" idx="12"/>
          </p:nvPr>
        </p:nvSpPr>
        <p:spPr/>
        <p:txBody>
          <a:bodyPr/>
          <a:lstStyle/>
          <a:p>
            <a:fld id="{137B6533-93C0-4CCE-9908-DF32C8F0751F}" type="slidenum">
              <a:rPr lang="pt-BR" smtClean="0"/>
              <a:t>‹nº›</a:t>
            </a:fld>
            <a:endParaRPr lang="pt-B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BR"/>
              <a:t>Clique para editar o estilo do título mestre</a:t>
            </a:r>
            <a:endParaRPr kumimoji="0" lang="en-US"/>
          </a:p>
        </p:txBody>
      </p:sp>
      <p:sp>
        <p:nvSpPr>
          <p:cNvPr id="3" name="Espaço Reservado para Conteúdo 2"/>
          <p:cNvSpPr>
            <a:spLocks noGrp="1"/>
          </p:cNvSpPr>
          <p:nvPr>
            <p:ph idx="1"/>
          </p:nvPr>
        </p:nvSpPr>
        <p:spPr/>
        <p:txBody>
          <a:body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4" name="Espaço Reservado para Data 3"/>
          <p:cNvSpPr>
            <a:spLocks noGrp="1"/>
          </p:cNvSpPr>
          <p:nvPr>
            <p:ph type="dt" sz="half" idx="10"/>
          </p:nvPr>
        </p:nvSpPr>
        <p:spPr/>
        <p:txBody>
          <a:bodyPr/>
          <a:lstStyle/>
          <a:p>
            <a:fld id="{0C23CBC9-F0B6-4884-876A-5B206B889F1D}" type="datetimeFigureOut">
              <a:rPr lang="pt-BR" smtClean="0"/>
              <a:t>15/06/2026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137B6533-93C0-4CCE-9908-DF32C8F0751F}" type="slidenum">
              <a:rPr lang="pt-BR" smtClean="0"/>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bg>
      <p:bgRef idx="1002">
        <a:schemeClr val="bg2"/>
      </p:bgRef>
    </p:bg>
    <p:spTree>
      <p:nvGrpSpPr>
        <p:cNvPr id="1" name=""/>
        <p:cNvGrpSpPr/>
        <p:nvPr/>
      </p:nvGrpSpPr>
      <p:grpSpPr>
        <a:xfrm>
          <a:off x="0" y="0"/>
          <a:ext cx="0" cy="0"/>
          <a:chOff x="0" y="0"/>
          <a:chExt cx="0" cy="0"/>
        </a:xfrm>
      </p:grpSpPr>
      <p:sp>
        <p:nvSpPr>
          <p:cNvPr id="2" name="Título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pt-BR"/>
              <a:t>Clique para editar o estilo do título mestre</a:t>
            </a:r>
            <a:endParaRPr kumimoji="0" lang="en-US"/>
          </a:p>
        </p:txBody>
      </p:sp>
      <p:sp>
        <p:nvSpPr>
          <p:cNvPr id="3" name="Espaço Reservado para Texto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pt-BR"/>
              <a:t>Clique para editar os estilos do texto mestre</a:t>
            </a:r>
          </a:p>
        </p:txBody>
      </p:sp>
      <p:sp>
        <p:nvSpPr>
          <p:cNvPr id="4" name="Espaço Reservado para Data 3"/>
          <p:cNvSpPr>
            <a:spLocks noGrp="1"/>
          </p:cNvSpPr>
          <p:nvPr>
            <p:ph type="dt" sz="half" idx="10"/>
          </p:nvPr>
        </p:nvSpPr>
        <p:spPr/>
        <p:txBody>
          <a:bodyPr/>
          <a:lstStyle/>
          <a:p>
            <a:fld id="{0C23CBC9-F0B6-4884-876A-5B206B889F1D}" type="datetimeFigureOut">
              <a:rPr lang="pt-BR" smtClean="0"/>
              <a:t>15/06/2026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137B6533-93C0-4CCE-9908-DF32C8F0751F}" type="slidenum">
              <a:rPr lang="pt-BR" smtClean="0"/>
              <a:t>‹nº›</a:t>
            </a:fld>
            <a:endParaRPr lang="pt-B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457200" y="704088"/>
            <a:ext cx="8229600" cy="1143000"/>
          </a:xfrm>
        </p:spPr>
        <p:txBody>
          <a:bodyPr/>
          <a:lstStyle/>
          <a:p>
            <a:r>
              <a:rPr kumimoji="0" lang="pt-BR"/>
              <a:t>Clique para editar o estilo do título mestre</a:t>
            </a:r>
            <a:endParaRPr kumimoji="0" lang="en-US"/>
          </a:p>
        </p:txBody>
      </p:sp>
      <p:sp>
        <p:nvSpPr>
          <p:cNvPr id="3" name="Espaço Reservado para Conteúdo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4" name="Espaço Reservado para Conteúdo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5" name="Espaço Reservado para Data 4"/>
          <p:cNvSpPr>
            <a:spLocks noGrp="1"/>
          </p:cNvSpPr>
          <p:nvPr>
            <p:ph type="dt" sz="half" idx="10"/>
          </p:nvPr>
        </p:nvSpPr>
        <p:spPr/>
        <p:txBody>
          <a:bodyPr/>
          <a:lstStyle/>
          <a:p>
            <a:fld id="{0C23CBC9-F0B6-4884-876A-5B206B889F1D}" type="datetimeFigureOut">
              <a:rPr lang="pt-BR" smtClean="0"/>
              <a:t>15/06/2026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137B6533-93C0-4CCE-9908-DF32C8F0751F}" type="slidenum">
              <a:rPr lang="pt-BR" smtClean="0"/>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457200" y="704088"/>
            <a:ext cx="8229600" cy="1143000"/>
          </a:xfrm>
        </p:spPr>
        <p:txBody>
          <a:bodyPr tIns="45720" anchor="b"/>
          <a:lstStyle>
            <a:lvl1pPr>
              <a:defRPr/>
            </a:lvl1pPr>
          </a:lstStyle>
          <a:p>
            <a:r>
              <a:rPr kumimoji="0" lang="pt-BR"/>
              <a:t>Clique para editar o estilo do título mestre</a:t>
            </a:r>
            <a:endParaRPr kumimoji="0" lang="en-US"/>
          </a:p>
        </p:txBody>
      </p:sp>
      <p:sp>
        <p:nvSpPr>
          <p:cNvPr id="3" name="Espaço Reservado para Texto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pt-BR"/>
              <a:t>Clique para editar os estilos do texto mestre</a:t>
            </a:r>
          </a:p>
        </p:txBody>
      </p:sp>
      <p:sp>
        <p:nvSpPr>
          <p:cNvPr id="4" name="Espaço Reservado para Texto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pt-BR"/>
              <a:t>Clique para editar os estilos do texto mestre</a:t>
            </a:r>
          </a:p>
        </p:txBody>
      </p:sp>
      <p:sp>
        <p:nvSpPr>
          <p:cNvPr id="5" name="Espaço Reservado para Conteúdo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6" name="Espaço Reservado para Conteúdo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7" name="Espaço Reservado para Data 6"/>
          <p:cNvSpPr>
            <a:spLocks noGrp="1"/>
          </p:cNvSpPr>
          <p:nvPr>
            <p:ph type="dt" sz="half" idx="10"/>
          </p:nvPr>
        </p:nvSpPr>
        <p:spPr/>
        <p:txBody>
          <a:bodyPr/>
          <a:lstStyle/>
          <a:p>
            <a:fld id="{0C23CBC9-F0B6-4884-876A-5B206B889F1D}" type="datetimeFigureOut">
              <a:rPr lang="pt-BR" smtClean="0"/>
              <a:t>15/06/2026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137B6533-93C0-4CCE-9908-DF32C8F0751F}" type="slidenum">
              <a:rPr lang="pt-BR" smtClean="0"/>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pt-BR"/>
              <a:t>Clique para editar o estilo do título mestre</a:t>
            </a:r>
            <a:endParaRPr kumimoji="0" lang="en-US"/>
          </a:p>
        </p:txBody>
      </p:sp>
      <p:sp>
        <p:nvSpPr>
          <p:cNvPr id="3" name="Espaço Reservado para Data 2"/>
          <p:cNvSpPr>
            <a:spLocks noGrp="1"/>
          </p:cNvSpPr>
          <p:nvPr>
            <p:ph type="dt" sz="half" idx="10"/>
          </p:nvPr>
        </p:nvSpPr>
        <p:spPr/>
        <p:txBody>
          <a:bodyPr/>
          <a:lstStyle/>
          <a:p>
            <a:fld id="{0C23CBC9-F0B6-4884-876A-5B206B889F1D}" type="datetimeFigureOut">
              <a:rPr lang="pt-BR" smtClean="0"/>
              <a:t>15/06/2026</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137B6533-93C0-4CCE-9908-DF32C8F0751F}" type="slidenum">
              <a:rPr lang="pt-BR" smtClean="0"/>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0C23CBC9-F0B6-4884-876A-5B206B889F1D}" type="datetimeFigureOut">
              <a:rPr lang="pt-BR" smtClean="0"/>
              <a:t>15/06/2026</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137B6533-93C0-4CCE-9908-DF32C8F0751F}" type="slidenum">
              <a:rPr lang="pt-BR" smtClean="0"/>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pt-BR"/>
              <a:t>Clique para editar o estilo do título mestre</a:t>
            </a:r>
            <a:endParaRPr kumimoji="0" lang="en-US"/>
          </a:p>
        </p:txBody>
      </p:sp>
      <p:sp>
        <p:nvSpPr>
          <p:cNvPr id="3" name="Espaço Reservado para Texto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pt-BR"/>
              <a:t>Clique para editar os estilos do texto mestre</a:t>
            </a:r>
          </a:p>
        </p:txBody>
      </p:sp>
      <p:sp>
        <p:nvSpPr>
          <p:cNvPr id="4" name="Espaço Reservado para Conteúdo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5" name="Espaço Reservado para Data 4"/>
          <p:cNvSpPr>
            <a:spLocks noGrp="1"/>
          </p:cNvSpPr>
          <p:nvPr>
            <p:ph type="dt" sz="half" idx="10"/>
          </p:nvPr>
        </p:nvSpPr>
        <p:spPr/>
        <p:txBody>
          <a:bodyPr/>
          <a:lstStyle/>
          <a:p>
            <a:fld id="{0C23CBC9-F0B6-4884-876A-5B206B889F1D}" type="datetimeFigureOut">
              <a:rPr lang="pt-BR" smtClean="0"/>
              <a:t>15/06/2026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137B6533-93C0-4CCE-9908-DF32C8F0751F}" type="slidenum">
              <a:rPr lang="pt-BR" smtClean="0"/>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9" name="Retângulo com Único Canto Aparado e Arredondado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Triângulo retângulo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ítulo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pt-BR"/>
              <a:t>Clique para editar o estilo do título mestre</a:t>
            </a:r>
            <a:endParaRPr kumimoji="0" lang="en-US"/>
          </a:p>
        </p:txBody>
      </p:sp>
      <p:sp>
        <p:nvSpPr>
          <p:cNvPr id="4" name="Espaço Reservado para Texto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pt-BR"/>
              <a:t>Clique para editar os estilos do texto mestre</a:t>
            </a:r>
          </a:p>
        </p:txBody>
      </p:sp>
      <p:sp>
        <p:nvSpPr>
          <p:cNvPr id="5" name="Espaço Reservado para Data 4"/>
          <p:cNvSpPr>
            <a:spLocks noGrp="1"/>
          </p:cNvSpPr>
          <p:nvPr>
            <p:ph type="dt" sz="half" idx="10"/>
          </p:nvPr>
        </p:nvSpPr>
        <p:spPr/>
        <p:txBody>
          <a:bodyPr/>
          <a:lstStyle/>
          <a:p>
            <a:fld id="{0C23CBC9-F0B6-4884-876A-5B206B889F1D}" type="datetimeFigureOut">
              <a:rPr lang="pt-BR" smtClean="0"/>
              <a:t>15/06/2026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a:xfrm>
            <a:off x="8077200" y="6356350"/>
            <a:ext cx="609600" cy="365125"/>
          </a:xfrm>
        </p:spPr>
        <p:txBody>
          <a:bodyPr/>
          <a:lstStyle/>
          <a:p>
            <a:fld id="{137B6533-93C0-4CCE-9908-DF32C8F0751F}" type="slidenum">
              <a:rPr lang="pt-BR" smtClean="0"/>
              <a:t>‹nº›</a:t>
            </a:fld>
            <a:endParaRPr lang="pt-BR"/>
          </a:p>
        </p:txBody>
      </p:sp>
      <p:sp>
        <p:nvSpPr>
          <p:cNvPr id="3" name="Espaço Reservado para Imagem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pt-BR"/>
              <a:t>Clique no ícone para adicionar uma imagem</a:t>
            </a:r>
            <a:endParaRPr kumimoji="0" lang="en-US" dirty="0"/>
          </a:p>
        </p:txBody>
      </p:sp>
      <p:sp>
        <p:nvSpPr>
          <p:cNvPr id="10" name="Forma livre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orma livre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kumimoji="0" lang="pt-BR"/>
              <a:t>Clique para editar o estilo do título mestre</a:t>
            </a:r>
            <a:endParaRPr kumimoji="0" lang="en-US"/>
          </a:p>
        </p:txBody>
      </p:sp>
      <p:sp>
        <p:nvSpPr>
          <p:cNvPr id="3" name="Espaço Reservado para Texto Vertical 2"/>
          <p:cNvSpPr>
            <a:spLocks noGrp="1"/>
          </p:cNvSpPr>
          <p:nvPr>
            <p:ph type="body" orient="vert" idx="1"/>
          </p:nvPr>
        </p:nvSpPr>
        <p:spPr/>
        <p:txBody>
          <a:bodyPr vert="eaVert"/>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4" name="Espaço Reservado para Data 3"/>
          <p:cNvSpPr>
            <a:spLocks noGrp="1"/>
          </p:cNvSpPr>
          <p:nvPr>
            <p:ph type="dt" sz="half" idx="10"/>
          </p:nvPr>
        </p:nvSpPr>
        <p:spPr/>
        <p:txBody>
          <a:bodyPr/>
          <a:lstStyle/>
          <a:p>
            <a:fld id="{0C23CBC9-F0B6-4884-876A-5B206B889F1D}" type="datetimeFigureOut">
              <a:rPr lang="pt-BR" smtClean="0"/>
              <a:t>15/06/2026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137B6533-93C0-4CCE-9908-DF32C8F0751F}" type="slidenum">
              <a:rPr lang="pt-BR" smtClean="0"/>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914401"/>
            <a:ext cx="2057400" cy="5211763"/>
          </a:xfrm>
        </p:spPr>
        <p:txBody>
          <a:bodyPr vert="eaVert"/>
          <a:lstStyle/>
          <a:p>
            <a:r>
              <a:rPr kumimoji="0" lang="pt-BR"/>
              <a:t>Clique para editar o estilo do título mestre</a:t>
            </a:r>
            <a:endParaRPr kumimoji="0" lang="en-US"/>
          </a:p>
        </p:txBody>
      </p:sp>
      <p:sp>
        <p:nvSpPr>
          <p:cNvPr id="3" name="Espaço Reservado para Texto Vertical 2"/>
          <p:cNvSpPr>
            <a:spLocks noGrp="1"/>
          </p:cNvSpPr>
          <p:nvPr>
            <p:ph type="body" orient="vert" idx="1"/>
          </p:nvPr>
        </p:nvSpPr>
        <p:spPr>
          <a:xfrm>
            <a:off x="457200" y="914401"/>
            <a:ext cx="6019800" cy="5211763"/>
          </a:xfrm>
        </p:spPr>
        <p:txBody>
          <a:bodyPr vert="eaVert"/>
          <a:lstStyle/>
          <a:p>
            <a:pPr lvl="0" eaLnBrk="1" latinLnBrk="0" hangingPunct="1"/>
            <a:r>
              <a:rPr lang="pt-BR"/>
              <a:t>Clique para editar os estilos do texto mestre</a:t>
            </a:r>
          </a:p>
          <a:p>
            <a:pPr lvl="1" eaLnBrk="1" latinLnBrk="0" hangingPunct="1"/>
            <a:r>
              <a:rPr lang="pt-BR"/>
              <a:t>Segundo nível</a:t>
            </a:r>
          </a:p>
          <a:p>
            <a:pPr lvl="2" eaLnBrk="1" latinLnBrk="0" hangingPunct="1"/>
            <a:r>
              <a:rPr lang="pt-BR"/>
              <a:t>Terceiro nível</a:t>
            </a:r>
          </a:p>
          <a:p>
            <a:pPr lvl="3" eaLnBrk="1" latinLnBrk="0" hangingPunct="1"/>
            <a:r>
              <a:rPr lang="pt-BR"/>
              <a:t>Quarto nível</a:t>
            </a:r>
          </a:p>
          <a:p>
            <a:pPr lvl="4" eaLnBrk="1" latinLnBrk="0" hangingPunct="1"/>
            <a:r>
              <a:rPr lang="pt-BR"/>
              <a:t>Quinto nível</a:t>
            </a:r>
            <a:endParaRPr kumimoji="0" lang="en-US"/>
          </a:p>
        </p:txBody>
      </p:sp>
      <p:sp>
        <p:nvSpPr>
          <p:cNvPr id="4" name="Espaço Reservado para Data 3"/>
          <p:cNvSpPr>
            <a:spLocks noGrp="1"/>
          </p:cNvSpPr>
          <p:nvPr>
            <p:ph type="dt" sz="half" idx="10"/>
          </p:nvPr>
        </p:nvSpPr>
        <p:spPr/>
        <p:txBody>
          <a:bodyPr/>
          <a:lstStyle/>
          <a:p>
            <a:fld id="{0C23CBC9-F0B6-4884-876A-5B206B889F1D}" type="datetimeFigureOut">
              <a:rPr lang="pt-BR" smtClean="0"/>
              <a:t>15/06/2026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137B6533-93C0-4CCE-9908-DF32C8F0751F}" type="slidenum">
              <a:rPr lang="pt-BR" smtClean="0"/>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orma livre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orma livre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Espaço Reservado para Título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pt-BR"/>
              <a:t>Clique para editar o estilo do título mestre</a:t>
            </a:r>
            <a:endParaRPr kumimoji="0" lang="en-US"/>
          </a:p>
        </p:txBody>
      </p:sp>
      <p:sp>
        <p:nvSpPr>
          <p:cNvPr id="30" name="Espaço Reservado para Texto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pt-BR"/>
              <a:t>Clique para editar os estilos do texto mestre</a:t>
            </a:r>
          </a:p>
          <a:p>
            <a:pPr lvl="1" eaLnBrk="1" latinLnBrk="0" hangingPunct="1"/>
            <a:r>
              <a:rPr kumimoji="0" lang="pt-BR"/>
              <a:t>Segundo nível</a:t>
            </a:r>
          </a:p>
          <a:p>
            <a:pPr lvl="2" eaLnBrk="1" latinLnBrk="0" hangingPunct="1"/>
            <a:r>
              <a:rPr kumimoji="0" lang="pt-BR"/>
              <a:t>Terceiro nível</a:t>
            </a:r>
          </a:p>
          <a:p>
            <a:pPr lvl="3" eaLnBrk="1" latinLnBrk="0" hangingPunct="1"/>
            <a:r>
              <a:rPr kumimoji="0" lang="pt-BR"/>
              <a:t>Quarto nível</a:t>
            </a:r>
          </a:p>
          <a:p>
            <a:pPr lvl="4" eaLnBrk="1" latinLnBrk="0" hangingPunct="1"/>
            <a:r>
              <a:rPr kumimoji="0" lang="pt-BR"/>
              <a:t>Quinto nível</a:t>
            </a:r>
            <a:endParaRPr kumimoji="0" lang="en-US"/>
          </a:p>
        </p:txBody>
      </p:sp>
      <p:sp>
        <p:nvSpPr>
          <p:cNvPr id="10" name="Espaço Reservado para Data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0C23CBC9-F0B6-4884-876A-5B206B889F1D}" type="datetimeFigureOut">
              <a:rPr lang="pt-BR" smtClean="0"/>
              <a:t>15/06/2026</a:t>
            </a:fld>
            <a:endParaRPr lang="pt-BR"/>
          </a:p>
        </p:txBody>
      </p:sp>
      <p:sp>
        <p:nvSpPr>
          <p:cNvPr id="22" name="Espaço Reservado para Rodapé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pt-BR"/>
          </a:p>
        </p:txBody>
      </p:sp>
      <p:sp>
        <p:nvSpPr>
          <p:cNvPr id="18" name="Espaço Reservado para Número de Slide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37B6533-93C0-4CCE-9908-DF32C8F0751F}" type="slidenum">
              <a:rPr lang="pt-BR" smtClean="0"/>
              <a:t>‹nº›</a:t>
            </a:fld>
            <a:endParaRPr lang="pt-BR"/>
          </a:p>
        </p:txBody>
      </p:sp>
      <p:grpSp>
        <p:nvGrpSpPr>
          <p:cNvPr id="2" name="Grupo 1"/>
          <p:cNvGrpSpPr/>
          <p:nvPr/>
        </p:nvGrpSpPr>
        <p:grpSpPr>
          <a:xfrm>
            <a:off x="-19017" y="202408"/>
            <a:ext cx="9180548" cy="649224"/>
            <a:chOff x="-19045" y="216550"/>
            <a:chExt cx="9180548" cy="649224"/>
          </a:xfrm>
        </p:grpSpPr>
        <p:sp>
          <p:nvSpPr>
            <p:cNvPr id="12" name="Forma livre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orma livre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31540" y="2597317"/>
            <a:ext cx="8280920" cy="1512168"/>
          </a:xfrm>
        </p:spPr>
        <p:txBody>
          <a:bodyPr>
            <a:normAutofit/>
            <a:scene3d>
              <a:camera prst="orthographicFront"/>
              <a:lightRig rig="freezing" dir="t">
                <a:rot lat="0" lon="0" rev="5640000"/>
              </a:lightRig>
            </a:scene3d>
            <a:sp3d prstMaterial="flat">
              <a:contourClr>
                <a:schemeClr val="tx2"/>
              </a:contourClr>
            </a:sp3d>
          </a:bodyPr>
          <a:lstStyle/>
          <a:p>
            <a:r>
              <a:rPr lang="pt-BR" sz="3200" dirty="0">
                <a:solidFill>
                  <a:srgbClr val="FFC000"/>
                </a:solidFill>
                <a:effectLst/>
                <a:latin typeface="Tempus Sans ITC" pitchFamily="82" charset="0"/>
              </a:rPr>
              <a:t>O </a:t>
            </a:r>
            <a:r>
              <a:rPr lang="pt-BR" sz="3800" dirty="0">
                <a:solidFill>
                  <a:srgbClr val="FFC000"/>
                </a:solidFill>
                <a:effectLst/>
                <a:latin typeface="Tempus Sans ITC" pitchFamily="82" charset="0"/>
              </a:rPr>
              <a:t>PRINCÍPIO DE TRANSCENDÊNCIA </a:t>
            </a:r>
            <a:br>
              <a:rPr lang="pt-BR" sz="3200" dirty="0">
                <a:solidFill>
                  <a:srgbClr val="FFC000"/>
                </a:solidFill>
                <a:effectLst/>
                <a:latin typeface="Tempus Sans ITC" pitchFamily="82" charset="0"/>
              </a:rPr>
            </a:br>
            <a:r>
              <a:rPr lang="pt-BR" sz="3200" dirty="0">
                <a:solidFill>
                  <a:srgbClr val="FFC000"/>
                </a:solidFill>
                <a:effectLst/>
                <a:latin typeface="Tempus Sans ITC" pitchFamily="82" charset="0"/>
              </a:rPr>
              <a:t>NA FORMAÇÃO</a:t>
            </a:r>
          </a:p>
        </p:txBody>
      </p:sp>
      <p:sp>
        <p:nvSpPr>
          <p:cNvPr id="3" name="Subtítulo 2"/>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A8EB1-037B-EDDA-38DD-85BA6A8E51F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C67A7EC-18F5-A61D-EA35-6B8C53D3D07B}"/>
              </a:ext>
            </a:extLst>
          </p:cNvPr>
          <p:cNvSpPr>
            <a:spLocks noGrp="1"/>
          </p:cNvSpPr>
          <p:nvPr>
            <p:ph type="ctrTitle"/>
          </p:nvPr>
        </p:nvSpPr>
        <p:spPr>
          <a:xfrm>
            <a:off x="788668" y="1196752"/>
            <a:ext cx="7566664" cy="5343852"/>
          </a:xfrm>
        </p:spPr>
        <p:txBody>
          <a:bodyPr>
            <a:noAutofit/>
            <a:scene3d>
              <a:camera prst="orthographicFront"/>
              <a:lightRig rig="freezing" dir="t">
                <a:rot lat="0" lon="0" rev="5640000"/>
              </a:lightRig>
            </a:scene3d>
            <a:sp3d prstMaterial="flat">
              <a:contourClr>
                <a:schemeClr val="tx2"/>
              </a:contourClr>
            </a:sp3d>
          </a:bodyPr>
          <a:lstStyle/>
          <a:p>
            <a:pPr algn="l"/>
            <a:br>
              <a:rPr lang="pt-BR" sz="2800" i="1" dirty="0">
                <a:solidFill>
                  <a:srgbClr val="FFC000"/>
                </a:solidFill>
                <a:effectLst/>
                <a:latin typeface="Palatino Linotype" panose="02040502050505030304" pitchFamily="18" charset="0"/>
              </a:rPr>
            </a:br>
            <a:br>
              <a:rPr lang="pt-BR" sz="2800" i="1" dirty="0">
                <a:solidFill>
                  <a:srgbClr val="FFC000"/>
                </a:solidFill>
                <a:effectLst/>
                <a:latin typeface="Palatino Linotype" panose="02040502050505030304" pitchFamily="18" charset="0"/>
              </a:rPr>
            </a:br>
            <a:br>
              <a:rPr lang="pt-BR" sz="2800" i="1" dirty="0">
                <a:solidFill>
                  <a:srgbClr val="FFC000"/>
                </a:solidFill>
                <a:effectLst/>
                <a:latin typeface="Palatino Linotype" panose="02040502050505030304" pitchFamily="18" charset="0"/>
              </a:rPr>
            </a:br>
            <a:br>
              <a:rPr lang="pt-BR" sz="2800" i="1" dirty="0">
                <a:solidFill>
                  <a:srgbClr val="FFC000"/>
                </a:solidFill>
                <a:effectLst/>
                <a:latin typeface="Palatino Linotype" panose="02040502050505030304" pitchFamily="18" charset="0"/>
              </a:rPr>
            </a:br>
            <a:br>
              <a:rPr lang="pt-BR" sz="2800" i="1" dirty="0">
                <a:solidFill>
                  <a:srgbClr val="FFC000"/>
                </a:solidFill>
                <a:effectLst/>
                <a:latin typeface="Palatino Linotype" panose="02040502050505030304" pitchFamily="18" charset="0"/>
              </a:rPr>
            </a:br>
            <a:r>
              <a:rPr lang="pt-BR" sz="2800" i="1" dirty="0">
                <a:solidFill>
                  <a:srgbClr val="FFC000"/>
                </a:solidFill>
                <a:effectLst/>
                <a:latin typeface="Palatino Linotype" panose="02040502050505030304" pitchFamily="18" charset="0"/>
              </a:rPr>
              <a:t>Por que este tema? </a:t>
            </a:r>
            <a:br>
              <a:rPr lang="pt-BR" sz="2800" i="1" dirty="0">
                <a:solidFill>
                  <a:schemeClr val="tx1"/>
                </a:solidFill>
                <a:effectLst/>
                <a:latin typeface="Palatino Linotype" panose="02040502050505030304" pitchFamily="18" charset="0"/>
              </a:rPr>
            </a:br>
            <a:br>
              <a:rPr lang="pt-BR" sz="2800" dirty="0">
                <a:solidFill>
                  <a:schemeClr val="tx1"/>
                </a:solidFill>
                <a:effectLst/>
                <a:latin typeface="Palatino Linotype" panose="02040502050505030304" pitchFamily="18" charset="0"/>
              </a:rPr>
            </a:br>
            <a:r>
              <a:rPr lang="pt-BR" sz="2800" dirty="0">
                <a:solidFill>
                  <a:srgbClr val="FFC000"/>
                </a:solidFill>
                <a:effectLst/>
                <a:latin typeface="Palatino Linotype" panose="02040502050505030304" pitchFamily="18" charset="0"/>
              </a:rPr>
              <a:t>O princípio de transcendência é vital para que a vocação do seminarista nasça do encontro pessoal com Cristo</a:t>
            </a:r>
            <a:r>
              <a:rPr lang="pt-BR" sz="2800" b="0" dirty="0">
                <a:solidFill>
                  <a:schemeClr val="tx1"/>
                </a:solidFill>
                <a:effectLst/>
                <a:latin typeface="Palatino Linotype" panose="02040502050505030304" pitchFamily="18" charset="0"/>
              </a:rPr>
              <a:t>, que oferece um rumo decisivo e um novo horizonte. </a:t>
            </a:r>
            <a:br>
              <a:rPr lang="pt-BR" sz="2800" b="0" dirty="0">
                <a:solidFill>
                  <a:schemeClr val="tx1"/>
                </a:solidFill>
                <a:effectLst/>
                <a:latin typeface="Palatino Linotype" panose="02040502050505030304" pitchFamily="18" charset="0"/>
              </a:rPr>
            </a:br>
            <a:br>
              <a:rPr lang="pt-BR" sz="2800" b="0" dirty="0">
                <a:solidFill>
                  <a:schemeClr val="tx1"/>
                </a:solidFill>
                <a:effectLst/>
                <a:latin typeface="Palatino Linotype" panose="02040502050505030304" pitchFamily="18" charset="0"/>
              </a:rPr>
            </a:br>
            <a:r>
              <a:rPr lang="pt-BR" sz="2800" dirty="0">
                <a:solidFill>
                  <a:srgbClr val="FFC000"/>
                </a:solidFill>
                <a:effectLst/>
                <a:latin typeface="Palatino Linotype" panose="02040502050505030304" pitchFamily="18" charset="0"/>
              </a:rPr>
              <a:t>Ele sustenta a formação integral </a:t>
            </a:r>
            <a:r>
              <a:rPr lang="pt-BR" sz="2800" b="0" dirty="0">
                <a:solidFill>
                  <a:schemeClr val="tx1"/>
                </a:solidFill>
                <a:effectLst/>
                <a:latin typeface="Palatino Linotype" panose="02040502050505030304" pitchFamily="18" charset="0"/>
              </a:rPr>
              <a:t>ao harmonizar as dimensões humana e espiritual </a:t>
            </a:r>
            <a:br>
              <a:rPr lang="pt-BR" sz="2800" b="0" dirty="0">
                <a:solidFill>
                  <a:schemeClr val="tx1"/>
                </a:solidFill>
                <a:effectLst/>
                <a:latin typeface="Palatino Linotype" panose="02040502050505030304" pitchFamily="18" charset="0"/>
              </a:rPr>
            </a:br>
            <a:r>
              <a:rPr lang="pt-BR" sz="2800" dirty="0">
                <a:solidFill>
                  <a:srgbClr val="FFC000"/>
                </a:solidFill>
                <a:effectLst/>
                <a:latin typeface="Palatino Linotype" panose="02040502050505030304" pitchFamily="18" charset="0"/>
              </a:rPr>
              <a:t>para uma configuração autêntica com o Bom Pastor. </a:t>
            </a:r>
            <a:br>
              <a:rPr lang="pt-BR" sz="2000" b="0" dirty="0">
                <a:solidFill>
                  <a:schemeClr val="tx1"/>
                </a:solidFill>
                <a:effectLst/>
                <a:latin typeface="Palatino Linotype" panose="02040502050505030304" pitchFamily="18" charset="0"/>
              </a:rPr>
            </a:br>
            <a:r>
              <a:rPr lang="pt-BR" sz="2000" b="0" dirty="0">
                <a:solidFill>
                  <a:schemeClr val="tx1"/>
                </a:solidFill>
                <a:effectLst/>
                <a:latin typeface="Palatino Linotype" panose="02040502050505030304" pitchFamily="18" charset="0"/>
              </a:rPr>
              <a:t> </a:t>
            </a:r>
            <a:br>
              <a:rPr lang="pt-BR" sz="2000" b="0" dirty="0">
                <a:solidFill>
                  <a:schemeClr val="tx1"/>
                </a:solidFill>
                <a:effectLst/>
                <a:latin typeface="Palatino Linotype" panose="02040502050505030304" pitchFamily="18" charset="0"/>
              </a:rPr>
            </a:br>
            <a:endParaRPr lang="pt-BR" sz="2000" dirty="0">
              <a:solidFill>
                <a:schemeClr val="tx1"/>
              </a:solidFill>
              <a:effectLst/>
              <a:latin typeface="Palatino Linotype" panose="02040502050505030304" pitchFamily="18" charset="0"/>
            </a:endParaRPr>
          </a:p>
        </p:txBody>
      </p:sp>
      <p:sp>
        <p:nvSpPr>
          <p:cNvPr id="3" name="Subtítulo 2">
            <a:extLst>
              <a:ext uri="{FF2B5EF4-FFF2-40B4-BE49-F238E27FC236}">
                <a16:creationId xmlns:a16="http://schemas.microsoft.com/office/drawing/2014/main" id="{13B9C715-645D-C84A-AE3E-D73563DB594F}"/>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3551928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6C44F-1BCF-1A19-60CB-8D14FEC01419}"/>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EBDE048D-0A41-EAA4-B6A8-7B891EB8209C}"/>
              </a:ext>
            </a:extLst>
          </p:cNvPr>
          <p:cNvPicPr>
            <a:picLocks noChangeAspect="1"/>
          </p:cNvPicPr>
          <p:nvPr/>
        </p:nvPicPr>
        <p:blipFill>
          <a:blip r:embed="rId2"/>
          <a:stretch>
            <a:fillRect/>
          </a:stretch>
        </p:blipFill>
        <p:spPr>
          <a:xfrm>
            <a:off x="303912" y="1465168"/>
            <a:ext cx="4268088" cy="4268088"/>
          </a:xfrm>
          <a:prstGeom prst="rect">
            <a:avLst/>
          </a:prstGeom>
          <a:ln>
            <a:noFill/>
          </a:ln>
          <a:effectLst>
            <a:softEdge rad="112500"/>
          </a:effectLst>
        </p:spPr>
      </p:pic>
      <p:sp>
        <p:nvSpPr>
          <p:cNvPr id="3" name="Subtítulo 2">
            <a:extLst>
              <a:ext uri="{FF2B5EF4-FFF2-40B4-BE49-F238E27FC236}">
                <a16:creationId xmlns:a16="http://schemas.microsoft.com/office/drawing/2014/main" id="{88F24F62-5922-8C8A-B011-99E10C7981EC}"/>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pic>
        <p:nvPicPr>
          <p:cNvPr id="5" name="Imagem 4">
            <a:extLst>
              <a:ext uri="{FF2B5EF4-FFF2-40B4-BE49-F238E27FC236}">
                <a16:creationId xmlns:a16="http://schemas.microsoft.com/office/drawing/2014/main" id="{F277B5C4-4A5A-4F81-A13A-EDD6B5E66EFD}"/>
              </a:ext>
            </a:extLst>
          </p:cNvPr>
          <p:cNvPicPr>
            <a:picLocks noChangeAspect="1"/>
          </p:cNvPicPr>
          <p:nvPr/>
        </p:nvPicPr>
        <p:blipFill>
          <a:blip r:embed="rId3"/>
          <a:stretch>
            <a:fillRect/>
          </a:stretch>
        </p:blipFill>
        <p:spPr>
          <a:xfrm>
            <a:off x="4356776" y="1465168"/>
            <a:ext cx="4470998" cy="4268088"/>
          </a:xfrm>
          <a:prstGeom prst="rect">
            <a:avLst/>
          </a:prstGeom>
          <a:ln>
            <a:noFill/>
          </a:ln>
          <a:effectLst>
            <a:softEdge rad="112500"/>
          </a:effectLst>
        </p:spPr>
      </p:pic>
    </p:spTree>
    <p:extLst>
      <p:ext uri="{BB962C8B-B14F-4D97-AF65-F5344CB8AC3E}">
        <p14:creationId xmlns:p14="http://schemas.microsoft.com/office/powerpoint/2010/main" val="1694759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EB574-5ACE-4D16-5B4E-817B75904300}"/>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759E7EF4-ADAD-A127-7F84-2F06E6E153AE}"/>
              </a:ext>
            </a:extLst>
          </p:cNvPr>
          <p:cNvPicPr>
            <a:picLocks noChangeAspect="1"/>
          </p:cNvPicPr>
          <p:nvPr/>
        </p:nvPicPr>
        <p:blipFill>
          <a:blip r:embed="rId2"/>
          <a:stretch>
            <a:fillRect/>
          </a:stretch>
        </p:blipFill>
        <p:spPr>
          <a:xfrm>
            <a:off x="7081608" y="1628800"/>
            <a:ext cx="2062392" cy="3077964"/>
          </a:xfrm>
          <a:prstGeom prst="rect">
            <a:avLst/>
          </a:prstGeom>
          <a:ln>
            <a:noFill/>
          </a:ln>
          <a:effectLst>
            <a:softEdge rad="112500"/>
          </a:effectLst>
        </p:spPr>
      </p:pic>
      <p:sp>
        <p:nvSpPr>
          <p:cNvPr id="2" name="Título 1">
            <a:extLst>
              <a:ext uri="{FF2B5EF4-FFF2-40B4-BE49-F238E27FC236}">
                <a16:creationId xmlns:a16="http://schemas.microsoft.com/office/drawing/2014/main" id="{3458F8A8-213B-68A1-6B46-5CC2E5BD919F}"/>
              </a:ext>
            </a:extLst>
          </p:cNvPr>
          <p:cNvSpPr>
            <a:spLocks noGrp="1"/>
          </p:cNvSpPr>
          <p:nvPr>
            <p:ph type="ctrTitle"/>
          </p:nvPr>
        </p:nvSpPr>
        <p:spPr>
          <a:xfrm>
            <a:off x="656917" y="836712"/>
            <a:ext cx="8064896" cy="5877272"/>
          </a:xfrm>
        </p:spPr>
        <p:txBody>
          <a:bodyPr>
            <a:noAutofit/>
            <a:scene3d>
              <a:camera prst="orthographicFront"/>
              <a:lightRig rig="freezing" dir="t">
                <a:rot lat="0" lon="0" rev="5640000"/>
              </a:lightRig>
            </a:scene3d>
            <a:sp3d prstMaterial="flat">
              <a:contourClr>
                <a:schemeClr val="tx2"/>
              </a:contourClr>
            </a:sp3d>
          </a:bodyPr>
          <a:lstStyle/>
          <a:p>
            <a:pPr algn="l"/>
            <a:r>
              <a:rPr lang="pt-BR" sz="2400" dirty="0">
                <a:solidFill>
                  <a:schemeClr val="tx1"/>
                </a:solidFill>
                <a:effectLst/>
                <a:latin typeface="Palatino Linotype" panose="02040502050505030304" pitchFamily="18" charset="0"/>
              </a:rPr>
              <a:t>EVIDENCIAR E APROFUNDAR o PdT: </a:t>
            </a:r>
            <a:br>
              <a:rPr lang="pt-BR" sz="2400" dirty="0">
                <a:solidFill>
                  <a:schemeClr val="tx1"/>
                </a:solidFill>
                <a:effectLst/>
                <a:latin typeface="Palatino Linotype" panose="02040502050505030304" pitchFamily="18" charset="0"/>
              </a:rPr>
            </a:br>
            <a:br>
              <a:rPr lang="pt-BR" sz="2400" dirty="0">
                <a:solidFill>
                  <a:schemeClr val="tx1"/>
                </a:solidFill>
                <a:effectLst/>
                <a:latin typeface="Palatino Linotype" panose="02040502050505030304" pitchFamily="18" charset="0"/>
              </a:rPr>
            </a:br>
            <a:r>
              <a:rPr lang="pt-BR" sz="2400" dirty="0">
                <a:solidFill>
                  <a:schemeClr val="tx1"/>
                </a:solidFill>
                <a:effectLst/>
                <a:latin typeface="Palatino Linotype" panose="02040502050505030304" pitchFamily="18" charset="0"/>
              </a:rPr>
              <a:t>Que é este principio ?</a:t>
            </a:r>
            <a:br>
              <a:rPr lang="pt-BR" sz="2400" dirty="0">
                <a:solidFill>
                  <a:schemeClr val="tx1"/>
                </a:solidFill>
                <a:effectLst/>
                <a:latin typeface="Palatino Linotype" panose="02040502050505030304" pitchFamily="18" charset="0"/>
              </a:rPr>
            </a:br>
            <a:r>
              <a:rPr lang="pt-BR" sz="2400" dirty="0">
                <a:solidFill>
                  <a:schemeClr val="tx1"/>
                </a:solidFill>
                <a:effectLst/>
                <a:latin typeface="Palatino Linotype" panose="02040502050505030304" pitchFamily="18" charset="0"/>
              </a:rPr>
              <a:t>Qual é sua dinâmica ?</a:t>
            </a:r>
            <a:br>
              <a:rPr lang="pt-BR" sz="2400" dirty="0">
                <a:solidFill>
                  <a:schemeClr val="tx1"/>
                </a:solidFill>
                <a:effectLst/>
                <a:latin typeface="Palatino Linotype" panose="02040502050505030304" pitchFamily="18" charset="0"/>
              </a:rPr>
            </a:br>
            <a:br>
              <a:rPr lang="pt-BR" sz="2400" dirty="0">
                <a:solidFill>
                  <a:schemeClr val="tx1"/>
                </a:solidFill>
                <a:effectLst/>
                <a:latin typeface="Palatino Linotype" panose="02040502050505030304" pitchFamily="18" charset="0"/>
              </a:rPr>
            </a:br>
            <a:br>
              <a:rPr lang="pt-BR" sz="2400" dirty="0">
                <a:solidFill>
                  <a:schemeClr val="tx1"/>
                </a:solidFill>
                <a:effectLst/>
                <a:latin typeface="Palatino Linotype" panose="02040502050505030304" pitchFamily="18" charset="0"/>
              </a:rPr>
            </a:br>
            <a:r>
              <a:rPr lang="pt-BR" sz="2400" dirty="0">
                <a:solidFill>
                  <a:srgbClr val="FFC000"/>
                </a:solidFill>
                <a:effectLst/>
                <a:latin typeface="Palatino Linotype" panose="02040502050505030304" pitchFamily="18" charset="0"/>
              </a:rPr>
              <a:t>Participar melhor da própria dinâmica formativa</a:t>
            </a:r>
            <a:r>
              <a:rPr lang="pt-BR" sz="2400" dirty="0">
                <a:solidFill>
                  <a:schemeClr val="tx1"/>
                </a:solidFill>
                <a:effectLst/>
                <a:latin typeface="Palatino Linotype" panose="02040502050505030304" pitchFamily="18" charset="0"/>
              </a:rPr>
              <a:t>, </a:t>
            </a:r>
            <a:br>
              <a:rPr lang="pt-BR" sz="2400" dirty="0">
                <a:solidFill>
                  <a:schemeClr val="tx1"/>
                </a:solidFill>
                <a:effectLst/>
                <a:latin typeface="Palatino Linotype" panose="02040502050505030304" pitchFamily="18" charset="0"/>
              </a:rPr>
            </a:br>
            <a:r>
              <a:rPr lang="pt-BR" sz="2400" dirty="0">
                <a:solidFill>
                  <a:schemeClr val="tx1"/>
                </a:solidFill>
                <a:effectLst/>
                <a:latin typeface="Palatino Linotype" panose="02040502050505030304" pitchFamily="18" charset="0"/>
              </a:rPr>
              <a:t>pois </a:t>
            </a:r>
            <a:r>
              <a:rPr lang="pt-BR" sz="2400" dirty="0">
                <a:solidFill>
                  <a:srgbClr val="FFC000"/>
                </a:solidFill>
                <a:effectLst/>
                <a:latin typeface="Palatino Linotype" panose="02040502050505030304" pitchFamily="18" charset="0"/>
              </a:rPr>
              <a:t>ela é SINÉRGICA</a:t>
            </a:r>
            <a:r>
              <a:rPr lang="pt-BR" sz="2400" dirty="0">
                <a:solidFill>
                  <a:schemeClr val="tx1"/>
                </a:solidFill>
                <a:effectLst/>
                <a:latin typeface="Palatino Linotype" panose="02040502050505030304" pitchFamily="18" charset="0"/>
              </a:rPr>
              <a:t>: </a:t>
            </a:r>
            <a:br>
              <a:rPr lang="pt-BR" sz="2400" dirty="0">
                <a:solidFill>
                  <a:schemeClr val="tx1"/>
                </a:solidFill>
                <a:effectLst/>
                <a:latin typeface="Palatino Linotype" panose="02040502050505030304" pitchFamily="18" charset="0"/>
              </a:rPr>
            </a:br>
            <a:br>
              <a:rPr lang="pt-BR" sz="2400" dirty="0">
                <a:solidFill>
                  <a:schemeClr val="tx1"/>
                </a:solidFill>
                <a:effectLst/>
                <a:latin typeface="Palatino Linotype" panose="02040502050505030304" pitchFamily="18" charset="0"/>
              </a:rPr>
            </a:br>
            <a:r>
              <a:rPr lang="pt-BR" sz="2400" dirty="0">
                <a:solidFill>
                  <a:schemeClr val="tx1"/>
                </a:solidFill>
                <a:effectLst/>
                <a:latin typeface="Palatino Linotype" panose="02040502050505030304" pitchFamily="18" charset="0"/>
              </a:rPr>
              <a:t>2 energias, 2 operações/atividades, </a:t>
            </a:r>
            <a:br>
              <a:rPr lang="pt-BR" sz="2400" dirty="0">
                <a:solidFill>
                  <a:schemeClr val="tx1"/>
                </a:solidFill>
                <a:effectLst/>
                <a:latin typeface="Palatino Linotype" panose="02040502050505030304" pitchFamily="18" charset="0"/>
              </a:rPr>
            </a:br>
            <a:br>
              <a:rPr lang="pt-BR" sz="2400" dirty="0">
                <a:solidFill>
                  <a:schemeClr val="tx1"/>
                </a:solidFill>
                <a:effectLst/>
                <a:latin typeface="Palatino Linotype" panose="02040502050505030304" pitchFamily="18" charset="0"/>
              </a:rPr>
            </a:br>
            <a:r>
              <a:rPr lang="pt-BR" sz="2400" dirty="0">
                <a:solidFill>
                  <a:schemeClr val="tx1"/>
                </a:solidFill>
                <a:effectLst/>
                <a:latin typeface="Palatino Linotype" panose="02040502050505030304" pitchFamily="18" charset="0"/>
              </a:rPr>
              <a:t>2 pessoas, </a:t>
            </a:r>
            <a:r>
              <a:rPr lang="pt-BR" sz="2400" dirty="0">
                <a:solidFill>
                  <a:srgbClr val="FFC000"/>
                </a:solidFill>
                <a:effectLst/>
                <a:latin typeface="Palatino Linotype" panose="02040502050505030304" pitchFamily="18" charset="0"/>
              </a:rPr>
              <a:t>o ESPÍRITO e a pessoa humana</a:t>
            </a:r>
            <a:r>
              <a:rPr lang="pt-BR" sz="2400" dirty="0">
                <a:solidFill>
                  <a:schemeClr val="tx1"/>
                </a:solidFill>
                <a:effectLst/>
                <a:latin typeface="Palatino Linotype" panose="02040502050505030304" pitchFamily="18" charset="0"/>
              </a:rPr>
              <a:t>, </a:t>
            </a:r>
            <a:br>
              <a:rPr lang="pt-BR" sz="2400" dirty="0">
                <a:solidFill>
                  <a:schemeClr val="tx1"/>
                </a:solidFill>
                <a:effectLst/>
                <a:latin typeface="Palatino Linotype" panose="02040502050505030304" pitchFamily="18" charset="0"/>
              </a:rPr>
            </a:br>
            <a:r>
              <a:rPr lang="pt-BR" sz="2400" dirty="0">
                <a:solidFill>
                  <a:srgbClr val="FFC000"/>
                </a:solidFill>
                <a:effectLst/>
                <a:latin typeface="Palatino Linotype" panose="02040502050505030304" pitchFamily="18" charset="0"/>
              </a:rPr>
              <a:t>em relação pessoal </a:t>
            </a:r>
            <a:r>
              <a:rPr lang="pt-BR" sz="2400" dirty="0">
                <a:solidFill>
                  <a:schemeClr val="tx1"/>
                </a:solidFill>
                <a:effectLst/>
                <a:latin typeface="Palatino Linotype" panose="02040502050505030304" pitchFamily="18" charset="0"/>
              </a:rPr>
              <a:t>(</a:t>
            </a:r>
            <a:r>
              <a:rPr lang="pt-BR" sz="2400" dirty="0">
                <a:solidFill>
                  <a:srgbClr val="FFC000"/>
                </a:solidFill>
                <a:effectLst/>
                <a:latin typeface="Palatino Linotype" panose="02040502050505030304" pitchFamily="18" charset="0"/>
              </a:rPr>
              <a:t>em um Corpo Eclesial </a:t>
            </a:r>
            <a:r>
              <a:rPr lang="pt-BR" sz="2400" dirty="0">
                <a:solidFill>
                  <a:schemeClr val="tx1"/>
                </a:solidFill>
                <a:effectLst/>
                <a:latin typeface="Palatino Linotype" panose="02040502050505030304" pitchFamily="18" charset="0"/>
              </a:rPr>
              <a:t>!). </a:t>
            </a:r>
            <a:br>
              <a:rPr lang="pt-BR" sz="2400" dirty="0">
                <a:solidFill>
                  <a:schemeClr val="tx1"/>
                </a:solidFill>
                <a:effectLst/>
                <a:latin typeface="Palatino Linotype" panose="02040502050505030304" pitchFamily="18" charset="0"/>
              </a:rPr>
            </a:br>
            <a:br>
              <a:rPr lang="pt-BR" sz="2400" dirty="0">
                <a:solidFill>
                  <a:schemeClr val="tx1"/>
                </a:solidFill>
                <a:effectLst/>
                <a:latin typeface="Palatino Linotype" panose="02040502050505030304" pitchFamily="18" charset="0"/>
              </a:rPr>
            </a:br>
            <a:r>
              <a:rPr lang="pt-BR" sz="2400" dirty="0">
                <a:solidFill>
                  <a:schemeClr val="tx1"/>
                </a:solidFill>
                <a:effectLst/>
                <a:latin typeface="Palatino Linotype" panose="02040502050505030304" pitchFamily="18" charset="0"/>
              </a:rPr>
              <a:t>ALTERIDADE</a:t>
            </a:r>
            <a:r>
              <a:rPr lang="pt-BR" sz="2400" dirty="0">
                <a:solidFill>
                  <a:schemeClr val="tx1"/>
                </a:solidFill>
                <a:effectLst/>
              </a:rPr>
              <a:t> </a:t>
            </a:r>
            <a:br>
              <a:rPr lang="pt-BR" sz="2400" dirty="0">
                <a:effectLst/>
                <a:latin typeface="Palatino Linotype" panose="02040502050505030304" pitchFamily="18" charset="0"/>
              </a:rPr>
            </a:br>
            <a:endParaRPr lang="pt-BR" sz="2400" dirty="0">
              <a:solidFill>
                <a:srgbClr val="FFC000"/>
              </a:solidFill>
              <a:effectLst/>
              <a:latin typeface="Palatino Linotype" panose="02040502050505030304" pitchFamily="18" charset="0"/>
            </a:endParaRPr>
          </a:p>
        </p:txBody>
      </p:sp>
      <p:sp>
        <p:nvSpPr>
          <p:cNvPr id="3" name="Subtítulo 2">
            <a:extLst>
              <a:ext uri="{FF2B5EF4-FFF2-40B4-BE49-F238E27FC236}">
                <a16:creationId xmlns:a16="http://schemas.microsoft.com/office/drawing/2014/main" id="{862B0C16-25CB-8D0F-E6C0-8BF9499E07FE}"/>
              </a:ext>
            </a:extLst>
          </p:cNvPr>
          <p:cNvSpPr>
            <a:spLocks noGrp="1"/>
          </p:cNvSpPr>
          <p:nvPr>
            <p:ph type="subTitle" idx="1"/>
          </p:nvPr>
        </p:nvSpPr>
        <p:spPr>
          <a:xfrm flipH="1">
            <a:off x="8466255" y="6021288"/>
            <a:ext cx="45719"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1448446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D3A02-9A0B-072C-FF6B-EA759790BD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44D9D14-DD96-5B46-BA4E-62465017D147}"/>
              </a:ext>
            </a:extLst>
          </p:cNvPr>
          <p:cNvSpPr>
            <a:spLocks noGrp="1"/>
          </p:cNvSpPr>
          <p:nvPr>
            <p:ph type="ctrTitle"/>
          </p:nvPr>
        </p:nvSpPr>
        <p:spPr>
          <a:xfrm>
            <a:off x="1043608" y="1556792"/>
            <a:ext cx="7854696" cy="3384376"/>
          </a:xfrm>
        </p:spPr>
        <p:txBody>
          <a:bodyPr>
            <a:normAutofit/>
            <a:scene3d>
              <a:camera prst="orthographicFront"/>
              <a:lightRig rig="freezing" dir="t">
                <a:rot lat="0" lon="0" rev="5640000"/>
              </a:lightRig>
            </a:scene3d>
            <a:sp3d prstMaterial="flat">
              <a:contourClr>
                <a:schemeClr val="tx2"/>
              </a:contourClr>
            </a:sp3d>
          </a:bodyPr>
          <a:lstStyle/>
          <a:p>
            <a:pPr algn="l"/>
            <a:r>
              <a:rPr lang="pt-BR" sz="2400" dirty="0">
                <a:solidFill>
                  <a:srgbClr val="FFC000"/>
                </a:solidFill>
                <a:effectLst/>
                <a:latin typeface="Palatino Linotype" panose="02040502050505030304" pitchFamily="18" charset="0"/>
              </a:rPr>
              <a:t>A SINERGIA DO ESPÍRITO CONOSCO </a:t>
            </a:r>
            <a:r>
              <a:rPr lang="pt-BR" sz="2400" dirty="0">
                <a:solidFill>
                  <a:schemeClr val="tx1"/>
                </a:solidFill>
                <a:effectLst/>
                <a:latin typeface="Palatino Linotype" panose="02040502050505030304" pitchFamily="18" charset="0"/>
              </a:rPr>
              <a:t>visa que </a:t>
            </a:r>
            <a:br>
              <a:rPr lang="pt-BR" sz="2400" dirty="0">
                <a:solidFill>
                  <a:schemeClr val="tx1"/>
                </a:solidFill>
                <a:effectLst/>
                <a:latin typeface="Palatino Linotype" panose="02040502050505030304" pitchFamily="18" charset="0"/>
              </a:rPr>
            </a:br>
            <a:r>
              <a:rPr lang="pt-BR" sz="2400" dirty="0">
                <a:solidFill>
                  <a:schemeClr val="tx1"/>
                </a:solidFill>
                <a:effectLst/>
                <a:latin typeface="Palatino Linotype" panose="02040502050505030304" pitchFamily="18" charset="0"/>
              </a:rPr>
              <a:t>“o Espírito nos introduza na </a:t>
            </a:r>
            <a:r>
              <a:rPr lang="pt-BR" sz="2400" dirty="0">
                <a:solidFill>
                  <a:srgbClr val="FFC000"/>
                </a:solidFill>
                <a:effectLst/>
                <a:latin typeface="Palatino Linotype" panose="02040502050505030304" pitchFamily="18" charset="0"/>
              </a:rPr>
              <a:t>verdade completa</a:t>
            </a:r>
            <a:r>
              <a:rPr lang="pt-BR" sz="2400" dirty="0">
                <a:solidFill>
                  <a:schemeClr val="tx1"/>
                </a:solidFill>
                <a:effectLst/>
                <a:latin typeface="Palatino Linotype" panose="02040502050505030304" pitchFamily="18" charset="0"/>
              </a:rPr>
              <a:t>” </a:t>
            </a:r>
            <a:r>
              <a:rPr lang="pt-BR" sz="1400" dirty="0">
                <a:solidFill>
                  <a:schemeClr val="tx1"/>
                </a:solidFill>
                <a:effectLst/>
                <a:latin typeface="Palatino Linotype" panose="02040502050505030304" pitchFamily="18" charset="0"/>
              </a:rPr>
              <a:t>(Jo 16,13)</a:t>
            </a:r>
            <a:r>
              <a:rPr lang="pt-BR" sz="2400" dirty="0">
                <a:solidFill>
                  <a:schemeClr val="tx1"/>
                </a:solidFill>
                <a:effectLst/>
                <a:latin typeface="Palatino Linotype" panose="02040502050505030304" pitchFamily="18" charset="0"/>
              </a:rPr>
              <a:t>, </a:t>
            </a:r>
            <a:br>
              <a:rPr lang="pt-BR" sz="2400" dirty="0">
                <a:solidFill>
                  <a:schemeClr val="tx1"/>
                </a:solidFill>
                <a:effectLst/>
                <a:latin typeface="Palatino Linotype" panose="02040502050505030304" pitchFamily="18" charset="0"/>
              </a:rPr>
            </a:br>
            <a:r>
              <a:rPr lang="pt-BR" sz="2400" dirty="0">
                <a:solidFill>
                  <a:srgbClr val="FFC000"/>
                </a:solidFill>
                <a:effectLst/>
                <a:latin typeface="Palatino Linotype" panose="02040502050505030304" pitchFamily="18" charset="0"/>
              </a:rPr>
              <a:t>a mesma relação filial que Jesus tem com Pai</a:t>
            </a:r>
            <a:r>
              <a:rPr lang="pt-BR" sz="2400" dirty="0">
                <a:solidFill>
                  <a:schemeClr val="tx1"/>
                </a:solidFill>
                <a:effectLst/>
                <a:latin typeface="Palatino Linotype" panose="02040502050505030304" pitchFamily="18" charset="0"/>
              </a:rPr>
              <a:t>, </a:t>
            </a:r>
            <a:r>
              <a:rPr lang="pt-BR" sz="2400" i="1" dirty="0">
                <a:solidFill>
                  <a:schemeClr val="tx1"/>
                </a:solidFill>
                <a:effectLst/>
                <a:latin typeface="Palatino Linotype" panose="02040502050505030304" pitchFamily="18" charset="0"/>
              </a:rPr>
              <a:t>configurando-nos com Ele Bom Pastor</a:t>
            </a:r>
            <a:r>
              <a:rPr lang="pt-BR" sz="2400" dirty="0">
                <a:solidFill>
                  <a:schemeClr val="tx1"/>
                </a:solidFill>
                <a:effectLst/>
                <a:latin typeface="Palatino Linotype" panose="02040502050505030304" pitchFamily="18" charset="0"/>
              </a:rPr>
              <a:t>.</a:t>
            </a:r>
            <a:br>
              <a:rPr lang="pt-BR" sz="2400" dirty="0">
                <a:solidFill>
                  <a:schemeClr val="tx1"/>
                </a:solidFill>
                <a:effectLst/>
                <a:latin typeface="Palatino Linotype" panose="02040502050505030304" pitchFamily="18" charset="0"/>
              </a:rPr>
            </a:br>
            <a:endParaRPr lang="pt-BR" sz="2400" dirty="0">
              <a:solidFill>
                <a:schemeClr val="tx1"/>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282FB8BA-7490-6943-C714-70580B0D304B}"/>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1170465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D62E6-24C2-E207-A3B7-B03775450E1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483C75-B3ED-96C2-D0FE-2E4BDF4D2BAB}"/>
              </a:ext>
            </a:extLst>
          </p:cNvPr>
          <p:cNvSpPr>
            <a:spLocks noGrp="1"/>
          </p:cNvSpPr>
          <p:nvPr>
            <p:ph type="ctrTitle"/>
          </p:nvPr>
        </p:nvSpPr>
        <p:spPr>
          <a:xfrm>
            <a:off x="395536" y="620688"/>
            <a:ext cx="8286744" cy="5929064"/>
          </a:xfrm>
        </p:spPr>
        <p:txBody>
          <a:bodyPr>
            <a:noAutofit/>
            <a:scene3d>
              <a:camera prst="orthographicFront"/>
              <a:lightRig rig="freezing" dir="t">
                <a:rot lat="0" lon="0" rev="5640000"/>
              </a:lightRig>
            </a:scene3d>
            <a:sp3d prstMaterial="flat">
              <a:contourClr>
                <a:schemeClr val="tx2"/>
              </a:contourClr>
            </a:sp3d>
          </a:bodyPr>
          <a:lstStyle/>
          <a:p>
            <a:pPr lvl="0" algn="l"/>
            <a:r>
              <a:rPr lang="pt-BR" sz="1400" dirty="0">
                <a:solidFill>
                  <a:srgbClr val="FFC000"/>
                </a:solidFill>
                <a:effectLst/>
                <a:latin typeface="Palatino Linotype" panose="02040502050505030304" pitchFamily="18" charset="0"/>
              </a:rPr>
              <a:t>IMPORTANCIA DE TRATAR SOBRE O PdT</a:t>
            </a:r>
            <a:br>
              <a:rPr lang="pt-BR" sz="1400" dirty="0">
                <a:solidFill>
                  <a:schemeClr val="tx1"/>
                </a:solidFill>
                <a:effectLst/>
                <a:latin typeface="Palatino Linotype" panose="02040502050505030304" pitchFamily="18" charset="0"/>
              </a:rPr>
            </a:br>
            <a:r>
              <a:rPr lang="pt-BR" sz="1400" dirty="0">
                <a:solidFill>
                  <a:schemeClr val="tx1"/>
                </a:solidFill>
                <a:effectLst/>
                <a:latin typeface="Palatino Linotype" panose="02040502050505030304" pitchFamily="18" charset="0"/>
              </a:rPr>
              <a:t> </a:t>
            </a:r>
            <a:br>
              <a:rPr lang="pt-BR" sz="1400" dirty="0">
                <a:solidFill>
                  <a:schemeClr val="tx1"/>
                </a:solidFill>
                <a:effectLst/>
                <a:latin typeface="Palatino Linotype" panose="02040502050505030304" pitchFamily="18" charset="0"/>
              </a:rPr>
            </a:br>
            <a:r>
              <a:rPr lang="pt-BR" sz="1400" i="1" dirty="0">
                <a:solidFill>
                  <a:schemeClr val="tx1"/>
                </a:solidFill>
                <a:effectLst/>
                <a:latin typeface="Palatino Linotype" panose="02040502050505030304" pitchFamily="18" charset="0"/>
              </a:rPr>
              <a:t>Por que este tema? </a:t>
            </a:r>
            <a:br>
              <a:rPr lang="pt-BR" sz="1400" i="1" dirty="0">
                <a:solidFill>
                  <a:schemeClr val="tx1"/>
                </a:solidFill>
                <a:effectLst/>
                <a:latin typeface="Palatino Linotype" panose="02040502050505030304" pitchFamily="18" charset="0"/>
              </a:rPr>
            </a:br>
            <a:r>
              <a:rPr lang="pt-BR" sz="1400" i="1" dirty="0">
                <a:solidFill>
                  <a:schemeClr val="tx1"/>
                </a:solidFill>
                <a:effectLst/>
                <a:latin typeface="Palatino Linotype" panose="02040502050505030304" pitchFamily="18" charset="0"/>
              </a:rPr>
              <a:t>Esse tema educa para escolhas conscientes, permitindo uma resposta livre e cheia de sentido ao chamado divino cotidiano. Garante, assim, a maturidade para que o futuro presbítero seja sinal e instrumento da graça de Deus no mundo.</a:t>
            </a:r>
            <a:br>
              <a:rPr lang="pt-BR" sz="1400" dirty="0">
                <a:solidFill>
                  <a:schemeClr val="tx1"/>
                </a:solidFill>
                <a:effectLst/>
                <a:latin typeface="Palatino Linotype" panose="02040502050505030304" pitchFamily="18" charset="0"/>
              </a:rPr>
            </a:br>
            <a:r>
              <a:rPr lang="pt-BR" sz="1400" i="1" dirty="0">
                <a:solidFill>
                  <a:schemeClr val="tx1"/>
                </a:solidFill>
                <a:effectLst/>
                <a:latin typeface="Palatino Linotype" panose="02040502050505030304" pitchFamily="18" charset="0"/>
              </a:rPr>
              <a:t>Pela transcendência, supera-se o individualismo e o ativismo, focando na doação de si e na unidade interior com o Senhor.</a:t>
            </a:r>
            <a:br>
              <a:rPr lang="pt-BR" sz="1400" dirty="0">
                <a:solidFill>
                  <a:schemeClr val="tx1"/>
                </a:solidFill>
                <a:effectLst/>
                <a:latin typeface="Palatino Linotype" panose="02040502050505030304" pitchFamily="18" charset="0"/>
              </a:rPr>
            </a:br>
            <a:br>
              <a:rPr lang="pt-BR" sz="1400" dirty="0">
                <a:solidFill>
                  <a:schemeClr val="tx1"/>
                </a:solidFill>
                <a:effectLst/>
                <a:latin typeface="Palatino Linotype" panose="02040502050505030304" pitchFamily="18" charset="0"/>
              </a:rPr>
            </a:br>
            <a:r>
              <a:rPr lang="pt-BR" sz="1400" i="1" dirty="0">
                <a:solidFill>
                  <a:srgbClr val="FFC000"/>
                </a:solidFill>
                <a:effectLst/>
                <a:latin typeface="Palatino Linotype" panose="02040502050505030304" pitchFamily="18" charset="0"/>
              </a:rPr>
              <a:t>Esse tema educa</a:t>
            </a:r>
            <a:r>
              <a:rPr lang="pt-BR" sz="1400" dirty="0">
                <a:solidFill>
                  <a:srgbClr val="FFC000"/>
                </a:solidFill>
                <a:effectLst/>
                <a:latin typeface="Palatino Linotype" panose="02040502050505030304" pitchFamily="18" charset="0"/>
              </a:rPr>
              <a:t> </a:t>
            </a:r>
            <a:br>
              <a:rPr lang="pt-BR" sz="1400" dirty="0">
                <a:solidFill>
                  <a:schemeClr val="tx1"/>
                </a:solidFill>
                <a:effectLst/>
                <a:latin typeface="Palatino Linotype" panose="02040502050505030304" pitchFamily="18" charset="0"/>
              </a:rPr>
            </a:br>
            <a:r>
              <a:rPr lang="pt-BR" sz="1400" dirty="0">
                <a:solidFill>
                  <a:schemeClr val="tx1"/>
                </a:solidFill>
                <a:effectLst/>
                <a:latin typeface="Palatino Linotype" panose="02040502050505030304" pitchFamily="18" charset="0"/>
              </a:rPr>
              <a:t>EDUCERE (lat.: ex- sair / ducere guiar): GUIAR PARA FORA: sair do individualismo e auto perfeição. </a:t>
            </a:r>
            <a:br>
              <a:rPr lang="pt-BR" sz="1400" dirty="0">
                <a:solidFill>
                  <a:schemeClr val="tx1"/>
                </a:solidFill>
                <a:effectLst/>
                <a:latin typeface="Palatino Linotype" panose="02040502050505030304" pitchFamily="18" charset="0"/>
              </a:rPr>
            </a:br>
            <a:r>
              <a:rPr lang="pt-BR" sz="1400" i="1" dirty="0">
                <a:solidFill>
                  <a:srgbClr val="FFC000"/>
                </a:solidFill>
                <a:effectLst/>
                <a:latin typeface="Palatino Linotype" panose="02040502050505030304" pitchFamily="18" charset="0"/>
              </a:rPr>
              <a:t>para escolhas conscientes</a:t>
            </a:r>
            <a:r>
              <a:rPr lang="pt-BR" sz="1400" dirty="0">
                <a:solidFill>
                  <a:srgbClr val="FFC000"/>
                </a:solidFill>
                <a:effectLst/>
                <a:latin typeface="Palatino Linotype" panose="02040502050505030304" pitchFamily="18" charset="0"/>
              </a:rPr>
              <a:t> </a:t>
            </a:r>
            <a:br>
              <a:rPr lang="pt-BR" sz="1400" dirty="0">
                <a:solidFill>
                  <a:schemeClr val="tx1"/>
                </a:solidFill>
                <a:effectLst/>
                <a:latin typeface="Palatino Linotype" panose="02040502050505030304" pitchFamily="18" charset="0"/>
              </a:rPr>
            </a:br>
            <a:r>
              <a:rPr lang="pt-BR" sz="1400" dirty="0">
                <a:solidFill>
                  <a:schemeClr val="tx1"/>
                </a:solidFill>
                <a:effectLst/>
                <a:latin typeface="Palatino Linotype" panose="02040502050505030304" pitchFamily="18" charset="0"/>
              </a:rPr>
              <a:t>DISCERNIMENTO / 3 MODOS DE ELEIÇÃO.</a:t>
            </a:r>
            <a:br>
              <a:rPr lang="pt-BR" sz="1400" dirty="0">
                <a:solidFill>
                  <a:schemeClr val="tx1"/>
                </a:solidFill>
                <a:effectLst/>
                <a:latin typeface="Palatino Linotype" panose="02040502050505030304" pitchFamily="18" charset="0"/>
              </a:rPr>
            </a:br>
            <a:r>
              <a:rPr lang="pt-BR" sz="1400" i="1" dirty="0">
                <a:solidFill>
                  <a:srgbClr val="FFC000"/>
                </a:solidFill>
                <a:effectLst/>
                <a:latin typeface="Palatino Linotype" panose="02040502050505030304" pitchFamily="18" charset="0"/>
              </a:rPr>
              <a:t>permitindo</a:t>
            </a:r>
            <a:r>
              <a:rPr lang="pt-BR" sz="1400" dirty="0">
                <a:solidFill>
                  <a:srgbClr val="FFC000"/>
                </a:solidFill>
                <a:effectLst/>
                <a:latin typeface="Palatino Linotype" panose="02040502050505030304" pitchFamily="18" charset="0"/>
              </a:rPr>
              <a:t> </a:t>
            </a:r>
            <a:br>
              <a:rPr lang="pt-BR" sz="1400" dirty="0">
                <a:solidFill>
                  <a:schemeClr val="tx1"/>
                </a:solidFill>
                <a:effectLst/>
                <a:latin typeface="Palatino Linotype" panose="02040502050505030304" pitchFamily="18" charset="0"/>
              </a:rPr>
            </a:br>
            <a:r>
              <a:rPr lang="pt-BR" sz="1400" dirty="0">
                <a:solidFill>
                  <a:schemeClr val="tx1"/>
                </a:solidFill>
                <a:effectLst/>
                <a:latin typeface="Palatino Linotype" panose="02040502050505030304" pitchFamily="18" charset="0"/>
              </a:rPr>
              <a:t>CONDIÇÃO DE POSSIBILIDADE .</a:t>
            </a:r>
            <a:br>
              <a:rPr lang="pt-BR" sz="1400" dirty="0">
                <a:solidFill>
                  <a:schemeClr val="tx1"/>
                </a:solidFill>
                <a:effectLst/>
                <a:latin typeface="Palatino Linotype" panose="02040502050505030304" pitchFamily="18" charset="0"/>
              </a:rPr>
            </a:br>
            <a:r>
              <a:rPr lang="pt-BR" sz="1400" i="1" dirty="0">
                <a:solidFill>
                  <a:srgbClr val="FFC000"/>
                </a:solidFill>
                <a:effectLst/>
                <a:latin typeface="Palatino Linotype" panose="02040502050505030304" pitchFamily="18" charset="0"/>
              </a:rPr>
              <a:t>uma resposta livre</a:t>
            </a:r>
            <a:r>
              <a:rPr lang="pt-BR" sz="1400" dirty="0">
                <a:solidFill>
                  <a:srgbClr val="FFC000"/>
                </a:solidFill>
                <a:effectLst/>
                <a:latin typeface="Palatino Linotype" panose="02040502050505030304" pitchFamily="18" charset="0"/>
              </a:rPr>
              <a:t> </a:t>
            </a:r>
            <a:br>
              <a:rPr lang="pt-BR" sz="1400" dirty="0">
                <a:solidFill>
                  <a:schemeClr val="tx1"/>
                </a:solidFill>
                <a:effectLst/>
                <a:latin typeface="Palatino Linotype" panose="02040502050505030304" pitchFamily="18" charset="0"/>
              </a:rPr>
            </a:br>
            <a:r>
              <a:rPr lang="pt-BR" sz="1400" dirty="0">
                <a:solidFill>
                  <a:schemeClr val="tx1"/>
                </a:solidFill>
                <a:effectLst/>
                <a:latin typeface="Palatino Linotype" panose="02040502050505030304" pitchFamily="18" charset="0"/>
              </a:rPr>
              <a:t>LIBERDADE PARA O AMOR (Gal 5,13). </a:t>
            </a:r>
            <a:br>
              <a:rPr lang="pt-BR" sz="1400" dirty="0">
                <a:solidFill>
                  <a:schemeClr val="tx1"/>
                </a:solidFill>
                <a:effectLst/>
                <a:latin typeface="Palatino Linotype" panose="02040502050505030304" pitchFamily="18" charset="0"/>
              </a:rPr>
            </a:br>
            <a:r>
              <a:rPr lang="pt-BR" sz="1400" i="1" dirty="0">
                <a:solidFill>
                  <a:srgbClr val="FFC000"/>
                </a:solidFill>
                <a:effectLst/>
                <a:latin typeface="Palatino Linotype" panose="02040502050505030304" pitchFamily="18" charset="0"/>
              </a:rPr>
              <a:t>e cheia de sentido</a:t>
            </a:r>
            <a:r>
              <a:rPr lang="pt-BR" sz="1400" dirty="0">
                <a:solidFill>
                  <a:srgbClr val="FFC000"/>
                </a:solidFill>
                <a:effectLst/>
                <a:latin typeface="Palatino Linotype" panose="02040502050505030304" pitchFamily="18" charset="0"/>
              </a:rPr>
              <a:t> </a:t>
            </a:r>
            <a:br>
              <a:rPr lang="pt-BR" sz="1400" dirty="0">
                <a:solidFill>
                  <a:schemeClr val="tx1"/>
                </a:solidFill>
                <a:effectLst/>
                <a:latin typeface="Palatino Linotype" panose="02040502050505030304" pitchFamily="18" charset="0"/>
              </a:rPr>
            </a:br>
            <a:r>
              <a:rPr lang="pt-BR" sz="1400" dirty="0">
                <a:solidFill>
                  <a:schemeClr val="tx1"/>
                </a:solidFill>
                <a:effectLst/>
                <a:latin typeface="Palatino Linotype" panose="02040502050505030304" pitchFamily="18" charset="0"/>
              </a:rPr>
              <a:t>ORDO / PLANO DE VIDA QUE EXPRESSE UM ITINERÁRIO.</a:t>
            </a:r>
            <a:br>
              <a:rPr lang="pt-BR" sz="1400" dirty="0">
                <a:solidFill>
                  <a:schemeClr val="tx1"/>
                </a:solidFill>
                <a:effectLst/>
                <a:latin typeface="Palatino Linotype" panose="02040502050505030304" pitchFamily="18" charset="0"/>
              </a:rPr>
            </a:br>
            <a:r>
              <a:rPr lang="pt-BR" sz="1400" i="1" dirty="0">
                <a:solidFill>
                  <a:srgbClr val="FFC000"/>
                </a:solidFill>
                <a:effectLst/>
                <a:latin typeface="Palatino Linotype" panose="02040502050505030304" pitchFamily="18" charset="0"/>
              </a:rPr>
              <a:t>ao chamado divino cotidiano</a:t>
            </a:r>
            <a:r>
              <a:rPr lang="pt-BR" sz="1400" dirty="0">
                <a:solidFill>
                  <a:srgbClr val="FFC000"/>
                </a:solidFill>
                <a:effectLst/>
                <a:latin typeface="Palatino Linotype" panose="02040502050505030304" pitchFamily="18" charset="0"/>
              </a:rPr>
              <a:t> </a:t>
            </a:r>
            <a:br>
              <a:rPr lang="pt-BR" sz="1400" dirty="0">
                <a:solidFill>
                  <a:schemeClr val="tx1"/>
                </a:solidFill>
                <a:effectLst/>
                <a:latin typeface="Palatino Linotype" panose="02040502050505030304" pitchFamily="18" charset="0"/>
              </a:rPr>
            </a:br>
            <a:r>
              <a:rPr lang="pt-BR" sz="1400" dirty="0">
                <a:solidFill>
                  <a:schemeClr val="tx1"/>
                </a:solidFill>
                <a:effectLst/>
                <a:latin typeface="Palatino Linotype" panose="02040502050505030304" pitchFamily="18" charset="0"/>
              </a:rPr>
              <a:t>O SENHOR-QUE-CHAMA / VONTADE DE DEUS NO COTIDIANO. </a:t>
            </a:r>
            <a:br>
              <a:rPr lang="pt-BR" sz="1400" dirty="0">
                <a:solidFill>
                  <a:schemeClr val="tx1"/>
                </a:solidFill>
                <a:effectLst/>
                <a:latin typeface="Palatino Linotype" panose="02040502050505030304" pitchFamily="18" charset="0"/>
              </a:rPr>
            </a:br>
            <a:r>
              <a:rPr lang="pt-BR" sz="1400" i="1" dirty="0">
                <a:solidFill>
                  <a:srgbClr val="FFC000"/>
                </a:solidFill>
                <a:effectLst/>
                <a:latin typeface="Palatino Linotype" panose="02040502050505030304" pitchFamily="18" charset="0"/>
              </a:rPr>
              <a:t>Garante, assim, a maturidade</a:t>
            </a:r>
            <a:r>
              <a:rPr lang="pt-BR" sz="1400" dirty="0">
                <a:solidFill>
                  <a:srgbClr val="FFC000"/>
                </a:solidFill>
                <a:effectLst/>
                <a:latin typeface="Palatino Linotype" panose="02040502050505030304" pitchFamily="18" charset="0"/>
              </a:rPr>
              <a:t> </a:t>
            </a:r>
            <a:br>
              <a:rPr lang="pt-BR" sz="1400" dirty="0">
                <a:solidFill>
                  <a:schemeClr val="tx1"/>
                </a:solidFill>
                <a:effectLst/>
                <a:latin typeface="Palatino Linotype" panose="02040502050505030304" pitchFamily="18" charset="0"/>
              </a:rPr>
            </a:br>
            <a:r>
              <a:rPr lang="pt-BR" sz="1400" dirty="0">
                <a:solidFill>
                  <a:schemeClr val="tx1"/>
                </a:solidFill>
                <a:effectLst/>
                <a:latin typeface="Palatino Linotype" panose="02040502050505030304" pitchFamily="18" charset="0"/>
              </a:rPr>
              <a:t>EPEKTASIS (Flp 3,13) / DINAMICA DE FORMAÇÃO CONTINUA-PERMANENTE.</a:t>
            </a:r>
            <a:br>
              <a:rPr lang="pt-BR" sz="1400" dirty="0">
                <a:solidFill>
                  <a:schemeClr val="tx1"/>
                </a:solidFill>
                <a:effectLst/>
                <a:latin typeface="Palatino Linotype" panose="02040502050505030304" pitchFamily="18" charset="0"/>
              </a:rPr>
            </a:br>
            <a:r>
              <a:rPr lang="pt-BR" sz="1400" i="1" dirty="0">
                <a:solidFill>
                  <a:srgbClr val="FFC000"/>
                </a:solidFill>
                <a:effectLst/>
                <a:latin typeface="Palatino Linotype" panose="02040502050505030304" pitchFamily="18" charset="0"/>
              </a:rPr>
              <a:t>para que o futuro presbítero seja sinal e instrumento da graça de Deus</a:t>
            </a:r>
            <a:br>
              <a:rPr lang="pt-BR" sz="1400" dirty="0">
                <a:solidFill>
                  <a:schemeClr val="tx1"/>
                </a:solidFill>
                <a:effectLst/>
                <a:latin typeface="Palatino Linotype" panose="02040502050505030304" pitchFamily="18" charset="0"/>
              </a:rPr>
            </a:br>
            <a:r>
              <a:rPr lang="pt-BR" sz="1400" i="1" dirty="0">
                <a:solidFill>
                  <a:schemeClr val="tx1"/>
                </a:solidFill>
                <a:effectLst/>
                <a:latin typeface="Palatino Linotype" panose="02040502050505030304" pitchFamily="18" charset="0"/>
              </a:rPr>
              <a:t> </a:t>
            </a:r>
            <a:r>
              <a:rPr lang="pt-BR" sz="1400" dirty="0">
                <a:solidFill>
                  <a:schemeClr val="tx1"/>
                </a:solidFill>
                <a:effectLst/>
                <a:latin typeface="Palatino Linotype" panose="02040502050505030304" pitchFamily="18" charset="0"/>
              </a:rPr>
              <a:t>SERVIDOR DE UMA ATIVIDADE DIVINA QUE VISA DIVINIZAR (santificar / 2Pe 1,4).</a:t>
            </a:r>
            <a:br>
              <a:rPr lang="pt-BR" sz="1400" dirty="0">
                <a:solidFill>
                  <a:schemeClr val="tx1"/>
                </a:solidFill>
                <a:effectLst/>
                <a:latin typeface="Palatino Linotype" panose="02040502050505030304" pitchFamily="18" charset="0"/>
              </a:rPr>
            </a:br>
            <a:r>
              <a:rPr lang="pt-BR" sz="1400" i="1" dirty="0">
                <a:solidFill>
                  <a:srgbClr val="FFC000"/>
                </a:solidFill>
                <a:effectLst/>
                <a:latin typeface="Palatino Linotype" panose="02040502050505030304" pitchFamily="18" charset="0"/>
              </a:rPr>
              <a:t>no mundo</a:t>
            </a:r>
            <a:r>
              <a:rPr lang="pt-BR" sz="1400" dirty="0">
                <a:solidFill>
                  <a:srgbClr val="FFC000"/>
                </a:solidFill>
                <a:effectLst/>
                <a:latin typeface="Palatino Linotype" panose="02040502050505030304" pitchFamily="18" charset="0"/>
              </a:rPr>
              <a:t> </a:t>
            </a:r>
            <a:br>
              <a:rPr lang="pt-BR" sz="1400" dirty="0">
                <a:solidFill>
                  <a:schemeClr val="tx1"/>
                </a:solidFill>
                <a:effectLst/>
                <a:latin typeface="Palatino Linotype" panose="02040502050505030304" pitchFamily="18" charset="0"/>
              </a:rPr>
            </a:br>
            <a:r>
              <a:rPr lang="pt-BR" sz="1400" dirty="0">
                <a:solidFill>
                  <a:schemeClr val="tx1"/>
                </a:solidFill>
                <a:effectLst/>
                <a:latin typeface="Palatino Linotype" panose="02040502050505030304" pitchFamily="18" charset="0"/>
              </a:rPr>
              <a:t>CLERO DIOCESANO/SECULAR: no século, tempo e espaço (não só na sacristia e presbitério).</a:t>
            </a:r>
            <a:endParaRPr lang="pt-BR" sz="1400" dirty="0">
              <a:solidFill>
                <a:schemeClr val="tx1"/>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A272CA27-F54F-8725-8789-547A7330DC54}"/>
              </a:ext>
            </a:extLst>
          </p:cNvPr>
          <p:cNvSpPr>
            <a:spLocks noGrp="1"/>
          </p:cNvSpPr>
          <p:nvPr>
            <p:ph type="subTitle" idx="1"/>
          </p:nvPr>
        </p:nvSpPr>
        <p:spPr>
          <a:xfrm>
            <a:off x="8172400" y="5877272"/>
            <a:ext cx="293856" cy="672480"/>
          </a:xfrm>
        </p:spPr>
        <p:txBody>
          <a:bodyPr>
            <a:normAutofit lnSpcReduction="1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191346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987C6-802D-0C3E-1814-82EC299676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8E3729-A174-44C5-AC40-BAA73EAC169F}"/>
              </a:ext>
            </a:extLst>
          </p:cNvPr>
          <p:cNvSpPr>
            <a:spLocks noGrp="1"/>
          </p:cNvSpPr>
          <p:nvPr>
            <p:ph type="ctrTitle"/>
          </p:nvPr>
        </p:nvSpPr>
        <p:spPr>
          <a:xfrm>
            <a:off x="611560" y="764704"/>
            <a:ext cx="7920880" cy="5785048"/>
          </a:xfrm>
        </p:spPr>
        <p:txBody>
          <a:bodyPr>
            <a:normAutofit fontScale="90000"/>
            <a:scene3d>
              <a:camera prst="orthographicFront"/>
              <a:lightRig rig="freezing" dir="t">
                <a:rot lat="0" lon="0" rev="5640000"/>
              </a:lightRig>
            </a:scene3d>
            <a:sp3d prstMaterial="flat">
              <a:contourClr>
                <a:schemeClr val="tx2"/>
              </a:contourClr>
            </a:sp3d>
          </a:bodyPr>
          <a:lstStyle/>
          <a:p>
            <a:pPr algn="l"/>
            <a:r>
              <a:rPr lang="pt-BR" sz="1800" dirty="0">
                <a:solidFill>
                  <a:schemeClr val="tx1"/>
                </a:solidFill>
                <a:effectLst/>
                <a:latin typeface="Palatino Linotype" panose="02040502050505030304" pitchFamily="18" charset="0"/>
              </a:rPr>
              <a:t>O parágrafo acrescenta:</a:t>
            </a:r>
            <a:br>
              <a:rPr lang="pt-BR" sz="1800" dirty="0">
                <a:solidFill>
                  <a:schemeClr val="tx1"/>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 </a:t>
            </a:r>
            <a:br>
              <a:rPr lang="pt-BR" sz="1800" dirty="0">
                <a:solidFill>
                  <a:schemeClr val="tx1"/>
                </a:solidFill>
                <a:effectLst/>
                <a:latin typeface="Palatino Linotype" panose="02040502050505030304" pitchFamily="18" charset="0"/>
              </a:rPr>
            </a:br>
            <a:r>
              <a:rPr lang="pt-BR" sz="1800" i="1" dirty="0">
                <a:solidFill>
                  <a:srgbClr val="FFC000"/>
                </a:solidFill>
                <a:effectLst/>
                <a:latin typeface="Palatino Linotype" panose="02040502050505030304" pitchFamily="18" charset="0"/>
              </a:rPr>
              <a:t>Pela transcendência, supera-se o individualismo</a:t>
            </a:r>
            <a:r>
              <a:rPr lang="pt-BR" sz="1800" dirty="0">
                <a:solidFill>
                  <a:srgbClr val="FFC000"/>
                </a:solidFill>
                <a:effectLst/>
                <a:latin typeface="Palatino Linotype" panose="02040502050505030304" pitchFamily="18" charset="0"/>
              </a:rPr>
              <a:t> </a:t>
            </a:r>
            <a:br>
              <a:rPr lang="pt-BR" sz="1800" dirty="0">
                <a:solidFill>
                  <a:schemeClr val="tx1"/>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ALTERIDADE</a:t>
            </a:r>
            <a:br>
              <a:rPr lang="pt-BR" sz="1800" dirty="0">
                <a:solidFill>
                  <a:schemeClr val="tx1"/>
                </a:solidFill>
                <a:effectLst/>
                <a:latin typeface="Palatino Linotype" panose="02040502050505030304" pitchFamily="18" charset="0"/>
              </a:rPr>
            </a:br>
            <a:br>
              <a:rPr lang="pt-BR" sz="1800" dirty="0">
                <a:solidFill>
                  <a:schemeClr val="tx1"/>
                </a:solidFill>
                <a:effectLst/>
                <a:latin typeface="Palatino Linotype" panose="02040502050505030304" pitchFamily="18" charset="0"/>
              </a:rPr>
            </a:br>
            <a:r>
              <a:rPr lang="pt-BR" sz="1800" i="1" dirty="0">
                <a:solidFill>
                  <a:srgbClr val="FFC000"/>
                </a:solidFill>
                <a:effectLst/>
                <a:latin typeface="Palatino Linotype" panose="02040502050505030304" pitchFamily="18" charset="0"/>
              </a:rPr>
              <a:t>e o ativismo </a:t>
            </a:r>
            <a:br>
              <a:rPr lang="pt-BR" sz="1800" dirty="0">
                <a:solidFill>
                  <a:schemeClr val="tx1"/>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O PROBLEMA DO ATIVISMO: atividade sem reflexão, i.é, atividade por rotina, moda, mero costume, impulso, emoção, que sutilmente nascem do eu, sem que o Senhor tenha uma presença central e consistente na própria historia e personalidade -até porque Ele é muitas vezes uma ideia, mais o menos abstrata-: por conseguinte, uma atividade que abrange camadas mais periféricas ou superficiais da própria existência, por conseguinte, uma atividade com baixa liberdade (porque não se é consciente de tudo o que essa atividade envolve) e baixo compromisso e participação pessoal (“que adianta ao homem ganhar o mundo inteiro, se perde a própria alma? ...se não envolve o próprio coração? Mc 8,36).</a:t>
            </a:r>
            <a:br>
              <a:rPr lang="pt-BR" sz="1800" dirty="0">
                <a:solidFill>
                  <a:schemeClr val="tx1"/>
                </a:solidFill>
                <a:effectLst/>
                <a:latin typeface="Palatino Linotype" panose="02040502050505030304" pitchFamily="18" charset="0"/>
              </a:rPr>
            </a:br>
            <a:br>
              <a:rPr lang="pt-BR" sz="1800" dirty="0">
                <a:solidFill>
                  <a:schemeClr val="tx1"/>
                </a:solidFill>
                <a:effectLst/>
                <a:latin typeface="Palatino Linotype" panose="02040502050505030304" pitchFamily="18" charset="0"/>
              </a:rPr>
            </a:br>
            <a:r>
              <a:rPr lang="pt-BR" sz="1800" i="1" dirty="0">
                <a:solidFill>
                  <a:srgbClr val="FFC000"/>
                </a:solidFill>
                <a:effectLst/>
                <a:latin typeface="Palatino Linotype" panose="02040502050505030304" pitchFamily="18" charset="0"/>
              </a:rPr>
              <a:t>focando na doação de si </a:t>
            </a:r>
            <a:br>
              <a:rPr lang="pt-BR" sz="1800" dirty="0">
                <a:solidFill>
                  <a:schemeClr val="tx1"/>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COM O SENHOR E COMO ELE (terceiro grau de humildade, </a:t>
            </a:r>
            <a:r>
              <a:rPr lang="pt-BR" sz="1800" dirty="0" err="1">
                <a:solidFill>
                  <a:schemeClr val="tx1"/>
                </a:solidFill>
                <a:effectLst/>
                <a:latin typeface="Palatino Linotype" panose="02040502050505030304" pitchFamily="18" charset="0"/>
              </a:rPr>
              <a:t>sto</a:t>
            </a:r>
            <a:r>
              <a:rPr lang="pt-BR" sz="1800" dirty="0">
                <a:solidFill>
                  <a:schemeClr val="tx1"/>
                </a:solidFill>
                <a:effectLst/>
                <a:latin typeface="Palatino Linotype" panose="02040502050505030304" pitchFamily="18" charset="0"/>
              </a:rPr>
              <a:t> Inácio de Loyola).</a:t>
            </a:r>
            <a:br>
              <a:rPr lang="pt-BR" sz="1800" dirty="0">
                <a:solidFill>
                  <a:schemeClr val="tx1"/>
                </a:solidFill>
                <a:effectLst/>
                <a:latin typeface="Palatino Linotype" panose="02040502050505030304" pitchFamily="18" charset="0"/>
              </a:rPr>
            </a:br>
            <a:br>
              <a:rPr lang="pt-BR" sz="1800" dirty="0">
                <a:solidFill>
                  <a:schemeClr val="tx1"/>
                </a:solidFill>
                <a:effectLst/>
                <a:latin typeface="Palatino Linotype" panose="02040502050505030304" pitchFamily="18" charset="0"/>
              </a:rPr>
            </a:br>
            <a:r>
              <a:rPr lang="pt-BR" sz="1800" i="1" dirty="0">
                <a:solidFill>
                  <a:srgbClr val="FFC000"/>
                </a:solidFill>
                <a:effectLst/>
                <a:latin typeface="Palatino Linotype" panose="02040502050505030304" pitchFamily="18" charset="0"/>
              </a:rPr>
              <a:t>e na unidade interior com o Senhor</a:t>
            </a:r>
            <a:r>
              <a:rPr lang="pt-BR" sz="1800" dirty="0">
                <a:solidFill>
                  <a:srgbClr val="FFC000"/>
                </a:solidFill>
                <a:effectLst/>
                <a:latin typeface="Palatino Linotype" panose="02040502050505030304" pitchFamily="18" charset="0"/>
              </a:rPr>
              <a:t> </a:t>
            </a:r>
            <a:br>
              <a:rPr lang="pt-BR" sz="1800" dirty="0">
                <a:solidFill>
                  <a:schemeClr val="tx1"/>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UNO E INTEGRADO (Jo 17,21) / CATÓLICO: navegar buscando a </a:t>
            </a:r>
            <a:r>
              <a:rPr lang="pt-BR" sz="1800" i="1" dirty="0">
                <a:solidFill>
                  <a:schemeClr val="tx1"/>
                </a:solidFill>
                <a:effectLst/>
                <a:latin typeface="Palatino Linotype" panose="02040502050505030304" pitchFamily="18" charset="0"/>
              </a:rPr>
              <a:t>unidade-de-tudo</a:t>
            </a:r>
            <a:r>
              <a:rPr lang="pt-BR" sz="1800" dirty="0">
                <a:solidFill>
                  <a:schemeClr val="tx1"/>
                </a:solidFill>
                <a:effectLst/>
                <a:latin typeface="Palatino Linotype" panose="02040502050505030304" pitchFamily="18" charset="0"/>
              </a:rPr>
              <a:t> (ligação de tudo). </a:t>
            </a:r>
            <a:br>
              <a:rPr lang="pt-BR" sz="1600" dirty="0">
                <a:solidFill>
                  <a:schemeClr val="tx1"/>
                </a:solidFill>
                <a:effectLst/>
                <a:latin typeface="Palatino Linotype" panose="02040502050505030304" pitchFamily="18" charset="0"/>
              </a:rPr>
            </a:br>
            <a:endParaRPr lang="pt-BR" sz="1600" dirty="0">
              <a:solidFill>
                <a:schemeClr val="tx1"/>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B1E81254-283D-90CE-DD75-E183460BD774}"/>
              </a:ext>
            </a:extLst>
          </p:cNvPr>
          <p:cNvSpPr>
            <a:spLocks noGrp="1"/>
          </p:cNvSpPr>
          <p:nvPr>
            <p:ph type="subTitle" idx="1"/>
          </p:nvPr>
        </p:nvSpPr>
        <p:spPr>
          <a:xfrm flipH="1">
            <a:off x="8466256" y="6021288"/>
            <a:ext cx="66184"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2416303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64805-2E24-E085-A216-C903EFD3C0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C9C96A8-828C-C48B-29A8-084218EA1CBB}"/>
              </a:ext>
            </a:extLst>
          </p:cNvPr>
          <p:cNvSpPr>
            <a:spLocks noGrp="1"/>
          </p:cNvSpPr>
          <p:nvPr>
            <p:ph type="ctrTitle"/>
          </p:nvPr>
        </p:nvSpPr>
        <p:spPr>
          <a:xfrm>
            <a:off x="677744" y="830650"/>
            <a:ext cx="7920880" cy="5472608"/>
          </a:xfrm>
        </p:spPr>
        <p:txBody>
          <a:bodyPr>
            <a:normAutofit fontScale="90000"/>
            <a:scene3d>
              <a:camera prst="orthographicFront"/>
              <a:lightRig rig="freezing" dir="t">
                <a:rot lat="0" lon="0" rev="5640000"/>
              </a:lightRig>
            </a:scene3d>
            <a:sp3d prstMaterial="flat">
              <a:contourClr>
                <a:schemeClr val="tx2"/>
              </a:contourClr>
            </a:sp3d>
          </a:bodyPr>
          <a:lstStyle/>
          <a:p>
            <a:pPr algn="l"/>
            <a:r>
              <a:rPr lang="pt-BR" sz="2000" dirty="0">
                <a:solidFill>
                  <a:srgbClr val="FFC000"/>
                </a:solidFill>
                <a:effectLst/>
                <a:latin typeface="Palatino Linotype" panose="02040502050505030304" pitchFamily="18" charset="0"/>
              </a:rPr>
              <a:t>SUPERFICIALIDADE É UMA AMEAÇA PERMANENTE </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a:t>
            </a:r>
            <a:r>
              <a:rPr lang="pt-BR" sz="1400" i="1" dirty="0">
                <a:solidFill>
                  <a:schemeClr val="tx1"/>
                </a:solidFill>
                <a:effectLst/>
                <a:latin typeface="Palatino Linotype" panose="02040502050505030304" pitchFamily="18" charset="0"/>
              </a:rPr>
              <a:t>Pensamentos: Divertimento </a:t>
            </a:r>
            <a:r>
              <a:rPr lang="pt-BR" sz="1400" dirty="0">
                <a:solidFill>
                  <a:schemeClr val="tx1"/>
                </a:solidFill>
                <a:effectLst/>
                <a:latin typeface="Palatino Linotype" panose="02040502050505030304" pitchFamily="18" charset="0"/>
              </a:rPr>
              <a:t>(Blaise Pascal)</a:t>
            </a:r>
            <a:br>
              <a:rPr lang="pt-BR" sz="1400" dirty="0">
                <a:solidFill>
                  <a:schemeClr val="tx1"/>
                </a:solidFill>
                <a:effectLst/>
                <a:latin typeface="Palatino Linotype" panose="02040502050505030304" pitchFamily="18" charset="0"/>
              </a:rPr>
            </a:br>
            <a:r>
              <a:rPr lang="pt-BR" sz="1400" dirty="0">
                <a:solidFill>
                  <a:schemeClr val="tx1"/>
                </a:solidFill>
                <a:effectLst/>
                <a:latin typeface="Palatino Linotype" panose="02040502050505030304" pitchFamily="18" charset="0"/>
              </a:rPr>
              <a:t> </a:t>
            </a:r>
            <a:br>
              <a:rPr lang="pt-BR" sz="1400" dirty="0">
                <a:solidFill>
                  <a:schemeClr val="tx1"/>
                </a:solidFill>
                <a:effectLst/>
                <a:latin typeface="Palatino Linotype" panose="02040502050505030304" pitchFamily="18" charset="0"/>
              </a:rPr>
            </a:br>
            <a:r>
              <a:rPr lang="pt-BR" sz="1400" dirty="0">
                <a:solidFill>
                  <a:schemeClr val="tx1"/>
                </a:solidFill>
                <a:effectLst/>
                <a:latin typeface="Palatino Linotype" panose="02040502050505030304" pitchFamily="18" charset="0"/>
              </a:rPr>
              <a:t>				</a:t>
            </a:r>
            <a:r>
              <a:rPr lang="pt-BR" sz="1400" i="1" dirty="0">
                <a:solidFill>
                  <a:schemeClr val="tx1"/>
                </a:solidFill>
                <a:effectLst/>
                <a:latin typeface="Palatino Linotype" panose="02040502050505030304" pitchFamily="18" charset="0"/>
              </a:rPr>
              <a:t>Eichmann em Jerusalém</a:t>
            </a:r>
            <a:r>
              <a:rPr lang="pt-BR" sz="1400" dirty="0">
                <a:solidFill>
                  <a:schemeClr val="tx1"/>
                </a:solidFill>
                <a:effectLst/>
                <a:latin typeface="Palatino Linotype" panose="02040502050505030304" pitchFamily="18" charset="0"/>
              </a:rPr>
              <a:t> (Hannah Arendt)</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a:t>
            </a:r>
            <a:br>
              <a:rPr lang="pt-BR" sz="2000" dirty="0">
                <a:solidFill>
                  <a:schemeClr val="tx1"/>
                </a:solidFill>
                <a:effectLst/>
                <a:latin typeface="Palatino Linotype" panose="02040502050505030304" pitchFamily="18" charset="0"/>
              </a:rPr>
            </a:br>
            <a:r>
              <a:rPr lang="pt-BR" sz="2000" i="1" dirty="0">
                <a:solidFill>
                  <a:srgbClr val="FFC000"/>
                </a:solidFill>
                <a:effectLst/>
                <a:latin typeface="Palatino Linotype" panose="02040502050505030304" pitchFamily="18" charset="0"/>
              </a:rPr>
              <a:t>Esquecimento</a:t>
            </a:r>
            <a:r>
              <a:rPr lang="pt-BR" sz="2000" dirty="0">
                <a:solidFill>
                  <a:srgbClr val="FFC000"/>
                </a:solidFill>
                <a:effectLst/>
                <a:latin typeface="Palatino Linotype" panose="02040502050505030304" pitchFamily="18" charset="0"/>
              </a:rPr>
              <a:t>, </a:t>
            </a:r>
            <a:r>
              <a:rPr lang="pt-BR" sz="2000" i="1" dirty="0">
                <a:solidFill>
                  <a:srgbClr val="FFC000"/>
                </a:solidFill>
                <a:effectLst/>
                <a:latin typeface="Palatino Linotype" panose="02040502050505030304" pitchFamily="18" charset="0"/>
              </a:rPr>
              <a:t>Apotegmas dos Padres do deserto</a:t>
            </a:r>
            <a:br>
              <a:rPr lang="pt-BR" sz="2000" i="1" dirty="0">
                <a:solidFill>
                  <a:srgbClr val="FFC000"/>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“O olvido é a raiz de todos os males” </a:t>
            </a:r>
            <a:r>
              <a:rPr lang="pt-BR" sz="1400" dirty="0">
                <a:solidFill>
                  <a:schemeClr val="tx1"/>
                </a:solidFill>
                <a:effectLst/>
                <a:latin typeface="Palatino Linotype" panose="02040502050505030304" pitchFamily="18" charset="0"/>
              </a:rPr>
              <a:t>(63).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“Três poderes de Satanás precedem todos os pecados: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o primeiro é o olvido, o segundo é a negligencia,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o terceiro é a cobiça.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De fato, do olvido nasce a negligencia,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da negligencia nasce a cobiça,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e esta faz o homem cair.” </a:t>
            </a:r>
            <a:r>
              <a:rPr lang="pt-BR" sz="1400" dirty="0">
                <a:solidFill>
                  <a:schemeClr val="tx1"/>
                </a:solidFill>
                <a:effectLst/>
                <a:latin typeface="Palatino Linotype" panose="02040502050505030304" pitchFamily="18" charset="0"/>
              </a:rPr>
              <a:t>(273).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Esquecimento 	de onde eu venho,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quem eu sou, para que eu estou aqui,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para onde eu vou.</a:t>
            </a:r>
            <a:br>
              <a:rPr lang="pt-BR" sz="2000" dirty="0">
                <a:solidFill>
                  <a:schemeClr val="tx1"/>
                </a:solidFill>
                <a:effectLst/>
                <a:latin typeface="Palatino Linotype" panose="02040502050505030304" pitchFamily="18" charset="0"/>
              </a:rPr>
            </a:br>
            <a:endParaRPr lang="pt-BR" sz="2000" dirty="0">
              <a:solidFill>
                <a:schemeClr val="tx1"/>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F1024B8B-C886-CA9D-B03B-B721952C2792}"/>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925161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E50B6-23F9-1BB7-E876-B53B2323F27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D9C16A-8659-D312-4F50-B9A2624B9494}"/>
              </a:ext>
            </a:extLst>
          </p:cNvPr>
          <p:cNvSpPr>
            <a:spLocks noGrp="1"/>
          </p:cNvSpPr>
          <p:nvPr>
            <p:ph type="ctrTitle"/>
          </p:nvPr>
        </p:nvSpPr>
        <p:spPr>
          <a:xfrm>
            <a:off x="677744" y="620688"/>
            <a:ext cx="8064896" cy="5929064"/>
          </a:xfrm>
        </p:spPr>
        <p:txBody>
          <a:bodyPr>
            <a:normAutofit fontScale="90000"/>
            <a:scene3d>
              <a:camera prst="orthographicFront"/>
              <a:lightRig rig="freezing" dir="t">
                <a:rot lat="0" lon="0" rev="5640000"/>
              </a:lightRig>
            </a:scene3d>
            <a:sp3d prstMaterial="flat">
              <a:contourClr>
                <a:schemeClr val="tx2"/>
              </a:contourClr>
            </a:sp3d>
          </a:bodyPr>
          <a:lstStyle/>
          <a:p>
            <a:pPr algn="l"/>
            <a:r>
              <a:rPr lang="pt-BR" sz="2000" i="1" dirty="0">
                <a:solidFill>
                  <a:schemeClr val="tx1"/>
                </a:solidFill>
                <a:effectLst/>
                <a:latin typeface="Palatino Linotype" panose="02040502050505030304" pitchFamily="18" charset="0"/>
              </a:rPr>
              <a:t>ESCLARECER ALGUNS TERMOS</a:t>
            </a:r>
            <a:r>
              <a:rPr lang="pt-BR" sz="2000" dirty="0">
                <a:solidFill>
                  <a:schemeClr val="tx1"/>
                </a:solidFill>
                <a:effectLst/>
                <a:latin typeface="Palatino Linotype" panose="02040502050505030304" pitchFamily="18" charset="0"/>
              </a:rPr>
              <a:t>:</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a:t>
            </a:r>
            <a:br>
              <a:rPr lang="pt-BR" sz="2000" dirty="0">
                <a:solidFill>
                  <a:schemeClr val="tx1"/>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PRINCÍPIO</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ἀρχῇ (Jo 1,1 e Gen 1,1):</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referencia a uma pré-existência e, sobretudo, a uma supra existência.</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uma presença permanente.</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Heb 12,1: </a:t>
            </a:r>
            <a:r>
              <a:rPr lang="pt-BR" sz="2000" i="1" dirty="0">
                <a:solidFill>
                  <a:schemeClr val="tx1"/>
                </a:solidFill>
                <a:effectLst/>
                <a:latin typeface="Palatino Linotype" panose="02040502050505030304" pitchFamily="18" charset="0"/>
              </a:rPr>
              <a:t>Cristo é o Iniciador [ἀρχηγὸν] e aperfeiçoador [τελειωτὴν] da fé</a:t>
            </a:r>
            <a:r>
              <a:rPr lang="pt-BR" sz="2000" dirty="0">
                <a:solidFill>
                  <a:schemeClr val="tx1"/>
                </a:solidFill>
                <a:effectLst/>
                <a:latin typeface="Palatino Linotype" panose="02040502050505030304" pitchFamily="18" charset="0"/>
              </a:rPr>
              <a:t>.</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Jesus Cristo é o PRINCÍPIO ativo </a:t>
            </a:r>
            <a:r>
              <a:rPr lang="pt-BR" sz="2000" dirty="0">
                <a:solidFill>
                  <a:srgbClr val="FFC000"/>
                </a:solidFill>
                <a:effectLst/>
                <a:latin typeface="Palatino Linotype" panose="02040502050505030304" pitchFamily="18" charset="0"/>
                <a:sym typeface="Wingdings" pitchFamily="2" charset="2"/>
              </a:rPr>
              <a:t></a:t>
            </a:r>
            <a:r>
              <a:rPr lang="pt-BR" sz="2000" dirty="0">
                <a:solidFill>
                  <a:srgbClr val="FFC000"/>
                </a:solidFill>
                <a:effectLst/>
                <a:latin typeface="Palatino Linotype" panose="02040502050505030304" pitchFamily="18" charset="0"/>
              </a:rPr>
              <a:t> estar/viver “</a:t>
            </a:r>
            <a:r>
              <a:rPr lang="pt-BR" sz="2000" i="1" dirty="0">
                <a:solidFill>
                  <a:srgbClr val="FFC000"/>
                </a:solidFill>
                <a:effectLst/>
                <a:latin typeface="Palatino Linotype" panose="02040502050505030304" pitchFamily="18" charset="0"/>
              </a:rPr>
              <a:t>EM CRISTO”</a:t>
            </a:r>
            <a:r>
              <a:rPr lang="pt-BR" sz="2000" dirty="0">
                <a:solidFill>
                  <a:srgbClr val="FFC000"/>
                </a:solidFill>
                <a:effectLst/>
                <a:latin typeface="Palatino Linotype" panose="02040502050505030304" pitchFamily="18" charset="0"/>
              </a:rPr>
              <a:t> </a:t>
            </a:r>
            <a:r>
              <a:rPr lang="pt-BR" sz="2000" dirty="0">
                <a:solidFill>
                  <a:schemeClr val="tx1"/>
                </a:solidFill>
                <a:effectLst/>
                <a:latin typeface="Palatino Linotype" panose="02040502050505030304" pitchFamily="18" charset="0"/>
              </a:rPr>
              <a:t>.</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REFERENCIA CONTINUA AO PRINCÍPIO, </a:t>
            </a:r>
            <a:br>
              <a:rPr lang="pt-BR" sz="2000" dirty="0">
                <a:solidFill>
                  <a:srgbClr val="FFC000"/>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PARA “</a:t>
            </a:r>
            <a:r>
              <a:rPr lang="pt-BR" sz="2000" i="1" dirty="0">
                <a:solidFill>
                  <a:srgbClr val="FFC000"/>
                </a:solidFill>
                <a:effectLst/>
                <a:latin typeface="Palatino Linotype" panose="02040502050505030304" pitchFamily="18" charset="0"/>
              </a:rPr>
              <a:t>EM CRISTO</a:t>
            </a:r>
            <a:r>
              <a:rPr lang="pt-BR" sz="2000" dirty="0">
                <a:solidFill>
                  <a:srgbClr val="FFC000"/>
                </a:solidFill>
                <a:effectLst/>
                <a:latin typeface="Palatino Linotype" panose="02040502050505030304" pitchFamily="18" charset="0"/>
              </a:rPr>
              <a:t>”:</a:t>
            </a:r>
            <a:br>
              <a:rPr lang="pt-BR" sz="2000" dirty="0">
                <a:solidFill>
                  <a:srgbClr val="FFC000"/>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			VER, </a:t>
            </a:r>
            <a:br>
              <a:rPr lang="pt-BR" sz="2000" dirty="0">
                <a:solidFill>
                  <a:srgbClr val="FFC000"/>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			DISCERNIR</a:t>
            </a:r>
            <a:br>
              <a:rPr lang="pt-BR" sz="2000" dirty="0">
                <a:solidFill>
                  <a:srgbClr val="FFC000"/>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			AGIR</a:t>
            </a:r>
            <a:r>
              <a:rPr lang="pt-BR" sz="2000" dirty="0">
                <a:solidFill>
                  <a:schemeClr val="tx1"/>
                </a:solidFill>
                <a:effectLst/>
                <a:latin typeface="Palatino Linotype" panose="02040502050505030304" pitchFamily="18" charset="0"/>
              </a:rPr>
              <a:t>,</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segundo a vontade do Pai, com desapego e disponibilidade, na realidade cotidiana.</a:t>
            </a:r>
            <a:br>
              <a:rPr lang="pt-BR" sz="1600" dirty="0">
                <a:effectLst/>
                <a:latin typeface="Palatino Linotype" panose="02040502050505030304" pitchFamily="18" charset="0"/>
              </a:rPr>
            </a:br>
            <a:br>
              <a:rPr lang="pt-BR" sz="1600" dirty="0">
                <a:effectLst/>
                <a:latin typeface="Palatino Linotype" panose="02040502050505030304" pitchFamily="18" charset="0"/>
              </a:rPr>
            </a:br>
            <a:br>
              <a:rPr lang="pt-BR" sz="1600" dirty="0">
                <a:effectLst/>
                <a:latin typeface="Palatino Linotype" panose="02040502050505030304" pitchFamily="18" charset="0"/>
              </a:rPr>
            </a:br>
            <a:br>
              <a:rPr lang="pt-BR" sz="1600" dirty="0">
                <a:effectLst/>
                <a:latin typeface="Palatino Linotype" panose="02040502050505030304" pitchFamily="18" charset="0"/>
              </a:rPr>
            </a:br>
            <a:endParaRPr lang="pt-BR" sz="1600" dirty="0">
              <a:solidFill>
                <a:srgbClr val="FFC000"/>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831EC572-A1A2-9A44-7095-DB45AC301F62}"/>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1174736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7910D-6AAB-13B3-A44A-D59A753451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D1CD9FB-AD04-1175-99C4-CED1D97DF62E}"/>
              </a:ext>
            </a:extLst>
          </p:cNvPr>
          <p:cNvSpPr>
            <a:spLocks noGrp="1"/>
          </p:cNvSpPr>
          <p:nvPr>
            <p:ph type="ctrTitle"/>
          </p:nvPr>
        </p:nvSpPr>
        <p:spPr>
          <a:xfrm>
            <a:off x="611560" y="620688"/>
            <a:ext cx="8064896" cy="5832648"/>
          </a:xfrm>
        </p:spPr>
        <p:txBody>
          <a:bodyPr>
            <a:noAutofit/>
            <a:scene3d>
              <a:camera prst="orthographicFront"/>
              <a:lightRig rig="freezing" dir="t">
                <a:rot lat="0" lon="0" rev="5640000"/>
              </a:lightRig>
            </a:scene3d>
            <a:sp3d prstMaterial="flat">
              <a:contourClr>
                <a:schemeClr val="tx2"/>
              </a:contourClr>
            </a:sp3d>
          </a:bodyPr>
          <a:lstStyle/>
          <a:p>
            <a:pPr algn="l"/>
            <a:r>
              <a:rPr lang="pt-BR" sz="2000" i="1" dirty="0">
                <a:solidFill>
                  <a:schemeClr val="tx1"/>
                </a:solidFill>
                <a:effectLst/>
                <a:latin typeface="Palatino Linotype" panose="02040502050505030304" pitchFamily="18" charset="0"/>
              </a:rPr>
              <a:t>ESCLARECER ALGUNS TERMOS</a:t>
            </a:r>
            <a:r>
              <a:rPr lang="pt-BR" sz="2000" dirty="0">
                <a:solidFill>
                  <a:schemeClr val="tx1"/>
                </a:solidFill>
                <a:effectLst/>
                <a:latin typeface="Palatino Linotype" panose="02040502050505030304" pitchFamily="18" charset="0"/>
              </a:rPr>
              <a:t>:</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TRASCENDÊNCIA</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Transcendência: derivada do verbo </a:t>
            </a:r>
            <a:r>
              <a:rPr lang="pt-BR" sz="2000" i="1" dirty="0">
                <a:solidFill>
                  <a:schemeClr val="tx1"/>
                </a:solidFill>
                <a:effectLst/>
                <a:latin typeface="Palatino Linotype" panose="02040502050505030304" pitchFamily="18" charset="0"/>
              </a:rPr>
              <a:t>transcendere </a:t>
            </a:r>
            <a:r>
              <a:rPr lang="pt-BR" sz="2000" dirty="0">
                <a:solidFill>
                  <a:schemeClr val="tx1"/>
                </a:solidFill>
                <a:effectLst/>
                <a:latin typeface="Palatino Linotype" panose="02040502050505030304" pitchFamily="18" charset="0"/>
              </a:rPr>
              <a:t>(lat.).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É a união de </a:t>
            </a:r>
            <a:r>
              <a:rPr lang="pt-BR" sz="2000" i="1" dirty="0">
                <a:solidFill>
                  <a:schemeClr val="tx1"/>
                </a:solidFill>
                <a:effectLst/>
                <a:latin typeface="Palatino Linotype" panose="02040502050505030304" pitchFamily="18" charset="0"/>
              </a:rPr>
              <a:t>trans-</a:t>
            </a:r>
            <a:r>
              <a:rPr lang="pt-BR" sz="2000" dirty="0">
                <a:solidFill>
                  <a:schemeClr val="tx1"/>
                </a:solidFill>
                <a:effectLst/>
                <a:latin typeface="Palatino Linotype" panose="02040502050505030304" pitchFamily="18" charset="0"/>
              </a:rPr>
              <a:t> (</a:t>
            </a:r>
            <a:r>
              <a:rPr lang="pt-BR" sz="2000" i="1" dirty="0">
                <a:solidFill>
                  <a:schemeClr val="tx1"/>
                </a:solidFill>
                <a:effectLst/>
                <a:latin typeface="Palatino Linotype" panose="02040502050505030304" pitchFamily="18" charset="0"/>
              </a:rPr>
              <a:t>através</a:t>
            </a:r>
            <a:r>
              <a:rPr lang="pt-BR" sz="2000" dirty="0">
                <a:solidFill>
                  <a:schemeClr val="tx1"/>
                </a:solidFill>
                <a:effectLst/>
                <a:latin typeface="Palatino Linotype" panose="02040502050505030304" pitchFamily="18" charset="0"/>
              </a:rPr>
              <a:t>, </a:t>
            </a:r>
            <a:r>
              <a:rPr lang="pt-BR" sz="2000" i="1" dirty="0">
                <a:solidFill>
                  <a:schemeClr val="tx1"/>
                </a:solidFill>
                <a:effectLst/>
                <a:latin typeface="Palatino Linotype" panose="02040502050505030304" pitchFamily="18" charset="0"/>
              </a:rPr>
              <a:t>além de</a:t>
            </a:r>
            <a:r>
              <a:rPr lang="pt-BR" sz="2000" dirty="0">
                <a:solidFill>
                  <a:schemeClr val="tx1"/>
                </a:solidFill>
                <a:effectLst/>
                <a:latin typeface="Palatino Linotype" panose="02040502050505030304" pitchFamily="18" charset="0"/>
              </a:rPr>
              <a:t>) e </a:t>
            </a:r>
            <a:r>
              <a:rPr lang="pt-BR" sz="2000" i="1" dirty="0">
                <a:solidFill>
                  <a:schemeClr val="tx1"/>
                </a:solidFill>
                <a:effectLst/>
                <a:latin typeface="Palatino Linotype" panose="02040502050505030304" pitchFamily="18" charset="0"/>
              </a:rPr>
              <a:t>scandere</a:t>
            </a:r>
            <a:r>
              <a:rPr lang="pt-BR" sz="2000" dirty="0">
                <a:solidFill>
                  <a:schemeClr val="tx1"/>
                </a:solidFill>
                <a:effectLst/>
                <a:latin typeface="Palatino Linotype" panose="02040502050505030304" pitchFamily="18" charset="0"/>
              </a:rPr>
              <a:t> ( significa </a:t>
            </a:r>
            <a:r>
              <a:rPr lang="pt-BR" sz="2000" i="1" dirty="0">
                <a:solidFill>
                  <a:schemeClr val="tx1"/>
                </a:solidFill>
                <a:effectLst/>
                <a:latin typeface="Palatino Linotype" panose="02040502050505030304" pitchFamily="18" charset="0"/>
              </a:rPr>
              <a:t>subir</a:t>
            </a:r>
            <a:r>
              <a:rPr lang="pt-BR" sz="2000" dirty="0">
                <a:solidFill>
                  <a:schemeClr val="tx1"/>
                </a:solidFill>
                <a:effectLst/>
                <a:latin typeface="Palatino Linotype" panose="02040502050505030304" pitchFamily="18" charset="0"/>
              </a:rPr>
              <a:t>, </a:t>
            </a:r>
            <a:r>
              <a:rPr lang="pt-BR" sz="2000" i="1" dirty="0">
                <a:solidFill>
                  <a:schemeClr val="tx1"/>
                </a:solidFill>
                <a:effectLst/>
                <a:latin typeface="Palatino Linotype" panose="02040502050505030304" pitchFamily="18" charset="0"/>
              </a:rPr>
              <a:t>escalar</a:t>
            </a:r>
            <a:r>
              <a:rPr lang="pt-BR" sz="2000" dirty="0">
                <a:solidFill>
                  <a:schemeClr val="tx1"/>
                </a:solidFill>
                <a:effectLst/>
                <a:latin typeface="Palatino Linotype" panose="02040502050505030304" pitchFamily="18" charset="0"/>
              </a:rPr>
              <a:t>). Literalmente: </a:t>
            </a:r>
            <a:r>
              <a:rPr lang="pt-BR" sz="2000" i="1" dirty="0">
                <a:solidFill>
                  <a:schemeClr val="tx1"/>
                </a:solidFill>
                <a:effectLst/>
                <a:latin typeface="Palatino Linotype" panose="02040502050505030304" pitchFamily="18" charset="0"/>
              </a:rPr>
              <a:t>subir além</a:t>
            </a:r>
            <a:r>
              <a:rPr lang="pt-BR" sz="2000" dirty="0">
                <a:solidFill>
                  <a:schemeClr val="tx1"/>
                </a:solidFill>
                <a:effectLst/>
                <a:latin typeface="Palatino Linotype" panose="02040502050505030304" pitchFamily="18" charset="0"/>
              </a:rPr>
              <a:t>, </a:t>
            </a:r>
            <a:r>
              <a:rPr lang="pt-BR" sz="2000" i="1" dirty="0">
                <a:solidFill>
                  <a:schemeClr val="tx1"/>
                </a:solidFill>
                <a:effectLst/>
                <a:latin typeface="Palatino Linotype" panose="02040502050505030304" pitchFamily="18" charset="0"/>
              </a:rPr>
              <a:t>passar por cima</a:t>
            </a:r>
            <a:r>
              <a:rPr lang="pt-BR" sz="2000" dirty="0">
                <a:solidFill>
                  <a:schemeClr val="tx1"/>
                </a:solidFill>
                <a:effectLst/>
                <a:latin typeface="Palatino Linotype" panose="02040502050505030304" pitchFamily="18" charset="0"/>
              </a:rPr>
              <a:t>, </a:t>
            </a:r>
            <a:r>
              <a:rPr lang="pt-BR" sz="2000" i="1" dirty="0">
                <a:solidFill>
                  <a:schemeClr val="tx1"/>
                </a:solidFill>
                <a:effectLst/>
                <a:latin typeface="Palatino Linotype" panose="02040502050505030304" pitchFamily="18" charset="0"/>
              </a:rPr>
              <a:t>ultrapassar limites</a:t>
            </a:r>
            <a:r>
              <a:rPr lang="pt-BR" sz="2000" dirty="0">
                <a:solidFill>
                  <a:schemeClr val="tx1"/>
                </a:solidFill>
                <a:effectLst/>
                <a:latin typeface="Palatino Linotype" panose="02040502050505030304" pitchFamily="18" charset="0"/>
              </a:rPr>
              <a:t>.</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“A humanização de Deus e a deificação do ser humano são eventos correlativos. [...] Decifra-se a verdade do ser humano, falando não apenas de Deus ou apenas do homem, mas do Deus-Homem”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(Paul Evdokimov, </a:t>
            </a:r>
            <a:r>
              <a:rPr lang="pt-BR" sz="2000" i="1" dirty="0">
                <a:solidFill>
                  <a:schemeClr val="tx1"/>
                </a:solidFill>
                <a:effectLst/>
                <a:latin typeface="Palatino Linotype" panose="02040502050505030304" pitchFamily="18" charset="0"/>
              </a:rPr>
              <a:t>Le Christ dans la pensée russe</a:t>
            </a:r>
            <a:r>
              <a:rPr lang="pt-BR" sz="2000" dirty="0">
                <a:solidFill>
                  <a:schemeClr val="tx1"/>
                </a:solidFill>
                <a:effectLst/>
                <a:latin typeface="Palatino Linotype" panose="02040502050505030304" pitchFamily="18" charset="0"/>
              </a:rPr>
              <a:t>).</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Teologia na economia. Kairós se realiza NO kronos (não em paralelo a ele; é por isso que, embora não sejamos do mundo, somos enviados ao mundo, Jo 17,14-18).</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i="1" dirty="0">
                <a:solidFill>
                  <a:srgbClr val="FFC000"/>
                </a:solidFill>
                <a:effectLst/>
                <a:latin typeface="Palatino Linotype" panose="02040502050505030304" pitchFamily="18" charset="0"/>
              </a:rPr>
              <a:t>ALTERIDADE</a:t>
            </a:r>
            <a:br>
              <a:rPr lang="pt-BR" sz="2000" dirty="0">
                <a:solidFill>
                  <a:schemeClr val="tx1"/>
                </a:solidFill>
                <a:effectLst/>
                <a:latin typeface="Palatino Linotype" panose="02040502050505030304" pitchFamily="18" charset="0"/>
              </a:rPr>
            </a:br>
            <a:endParaRPr lang="pt-BR" sz="2000" dirty="0">
              <a:solidFill>
                <a:schemeClr val="tx1"/>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C016381F-C03D-7E47-1558-E9DB5845FACA}"/>
              </a:ext>
            </a:extLst>
          </p:cNvPr>
          <p:cNvSpPr>
            <a:spLocks noGrp="1"/>
          </p:cNvSpPr>
          <p:nvPr>
            <p:ph type="subTitle" idx="1"/>
          </p:nvPr>
        </p:nvSpPr>
        <p:spPr>
          <a:xfrm>
            <a:off x="7380312" y="6021288"/>
            <a:ext cx="1085944"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1387197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9EC1A-CE56-3B7A-7EC9-2800E149B7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5BBAEA-6967-7BE9-3EE3-CADF3C292D41}"/>
              </a:ext>
            </a:extLst>
          </p:cNvPr>
          <p:cNvSpPr>
            <a:spLocks noGrp="1"/>
          </p:cNvSpPr>
          <p:nvPr>
            <p:ph type="ctrTitle"/>
          </p:nvPr>
        </p:nvSpPr>
        <p:spPr>
          <a:xfrm>
            <a:off x="611560" y="836712"/>
            <a:ext cx="7854696" cy="5713040"/>
          </a:xfrm>
        </p:spPr>
        <p:txBody>
          <a:bodyPr>
            <a:normAutofit/>
            <a:scene3d>
              <a:camera prst="orthographicFront"/>
              <a:lightRig rig="freezing" dir="t">
                <a:rot lat="0" lon="0" rev="5640000"/>
              </a:lightRig>
            </a:scene3d>
            <a:sp3d prstMaterial="flat">
              <a:contourClr>
                <a:schemeClr val="tx2"/>
              </a:contourClr>
            </a:sp3d>
          </a:bodyPr>
          <a:lstStyle/>
          <a:p>
            <a:pPr algn="l"/>
            <a:r>
              <a:rPr lang="pt-BR" sz="1600" dirty="0">
                <a:solidFill>
                  <a:srgbClr val="FFC000"/>
                </a:solidFill>
                <a:effectLst/>
                <a:latin typeface="Palatino Linotype" panose="02040502050505030304" pitchFamily="18" charset="0"/>
              </a:rPr>
              <a:t>I. LUZ TABÓRICA</a:t>
            </a:r>
            <a:br>
              <a:rPr lang="pt-BR" sz="1600" dirty="0">
                <a:solidFill>
                  <a:schemeClr val="tx1"/>
                </a:solidFill>
                <a:effectLst/>
                <a:latin typeface="Palatino Linotype" panose="02040502050505030304" pitchFamily="18" charset="0"/>
              </a:rPr>
            </a:br>
            <a:r>
              <a:rPr lang="pt-BR" sz="1600" dirty="0">
                <a:solidFill>
                  <a:schemeClr val="tx1"/>
                </a:solidFill>
                <a:effectLst/>
                <a:latin typeface="Palatino Linotype" panose="02040502050505030304" pitchFamily="18" charset="0"/>
              </a:rPr>
              <a:t> </a:t>
            </a:r>
            <a:br>
              <a:rPr lang="pt-BR" sz="1600" dirty="0">
                <a:solidFill>
                  <a:schemeClr val="tx1"/>
                </a:solidFill>
                <a:effectLst/>
                <a:latin typeface="Palatino Linotype" panose="02040502050505030304" pitchFamily="18" charset="0"/>
              </a:rPr>
            </a:br>
            <a:r>
              <a:rPr lang="pt-BR" sz="1600" dirty="0">
                <a:solidFill>
                  <a:srgbClr val="FFC000"/>
                </a:solidFill>
                <a:effectLst/>
                <a:latin typeface="Palatino Linotype" panose="02040502050505030304" pitchFamily="18" charset="0"/>
              </a:rPr>
              <a:t>Transfiguração do Senhor</a:t>
            </a:r>
            <a:r>
              <a:rPr lang="pt-BR" sz="1600" dirty="0">
                <a:solidFill>
                  <a:schemeClr val="tx1"/>
                </a:solidFill>
                <a:effectLst/>
                <a:latin typeface="Palatino Linotype" panose="02040502050505030304" pitchFamily="18" charset="0"/>
              </a:rPr>
              <a:t>:</a:t>
            </a:r>
            <a:br>
              <a:rPr lang="pt-BR" sz="1600" dirty="0">
                <a:solidFill>
                  <a:schemeClr val="tx1"/>
                </a:solidFill>
                <a:effectLst/>
                <a:latin typeface="Palatino Linotype" panose="02040502050505030304" pitchFamily="18" charset="0"/>
              </a:rPr>
            </a:br>
            <a:r>
              <a:rPr lang="pt-BR" sz="1600" dirty="0">
                <a:solidFill>
                  <a:schemeClr val="tx1"/>
                </a:solidFill>
                <a:effectLst/>
                <a:latin typeface="Palatino Linotype" panose="02040502050505030304" pitchFamily="18" charset="0"/>
              </a:rPr>
              <a:t> </a:t>
            </a:r>
            <a:br>
              <a:rPr lang="pt-BR" sz="1600" dirty="0">
                <a:solidFill>
                  <a:schemeClr val="tx1"/>
                </a:solidFill>
                <a:effectLst/>
                <a:latin typeface="Palatino Linotype" panose="02040502050505030304" pitchFamily="18" charset="0"/>
              </a:rPr>
            </a:br>
            <a:r>
              <a:rPr lang="pt-BR" sz="1600" dirty="0">
                <a:solidFill>
                  <a:srgbClr val="FFC000"/>
                </a:solidFill>
                <a:effectLst/>
                <a:latin typeface="Palatino Linotype" panose="02040502050505030304" pitchFamily="18" charset="0"/>
              </a:rPr>
              <a:t>ORÍGENES</a:t>
            </a:r>
            <a:r>
              <a:rPr lang="pt-BR" sz="1600" dirty="0">
                <a:solidFill>
                  <a:schemeClr val="tx1"/>
                </a:solidFill>
                <a:effectLst/>
                <a:latin typeface="Palatino Linotype" panose="02040502050505030304" pitchFamily="18" charset="0"/>
              </a:rPr>
              <a:t> (s. III): </a:t>
            </a:r>
            <a:br>
              <a:rPr lang="pt-BR" sz="1600" dirty="0">
                <a:solidFill>
                  <a:schemeClr val="tx1"/>
                </a:solidFill>
                <a:effectLst/>
                <a:latin typeface="Palatino Linotype" panose="02040502050505030304" pitchFamily="18" charset="0"/>
              </a:rPr>
            </a:br>
            <a:r>
              <a:rPr lang="pt-BR" sz="1600" dirty="0">
                <a:solidFill>
                  <a:schemeClr val="tx1"/>
                </a:solidFill>
                <a:effectLst/>
                <a:latin typeface="Palatino Linotype" panose="02040502050505030304" pitchFamily="18" charset="0"/>
              </a:rPr>
              <a:t>Olha, não foi simplesmente dito “se transfigurou”; Mateus e Marcos acrescentam um detalhe significativo, ambos dizem: “</a:t>
            </a:r>
            <a:r>
              <a:rPr lang="pt-BR" sz="1600" dirty="0">
                <a:solidFill>
                  <a:srgbClr val="FFC000"/>
                </a:solidFill>
                <a:effectLst/>
                <a:latin typeface="Palatino Linotype" panose="02040502050505030304" pitchFamily="18" charset="0"/>
              </a:rPr>
              <a:t>se transfigurou diante deles</a:t>
            </a:r>
            <a:r>
              <a:rPr lang="pt-BR" sz="1600" dirty="0">
                <a:solidFill>
                  <a:schemeClr val="tx1"/>
                </a:solidFill>
                <a:effectLst/>
                <a:latin typeface="Palatino Linotype" panose="02040502050505030304" pitchFamily="18" charset="0"/>
              </a:rPr>
              <a:t>” (Mt 17,2; Mc 9,2). E você poderia dizer que Jesus se transfigurou diante de alguns e não diante de outros. Mas se você quiser ver a Transfiguração de Jesus que ocorreu diante daqueles que subiram a montanha com Ele, saiba que </a:t>
            </a:r>
            <a:r>
              <a:rPr lang="pt-BR" sz="1600" dirty="0">
                <a:solidFill>
                  <a:srgbClr val="FFC000"/>
                </a:solidFill>
                <a:effectLst/>
                <a:latin typeface="Palatino Linotype" panose="02040502050505030304" pitchFamily="18" charset="0"/>
              </a:rPr>
              <a:t>nos Evangelhos você encontra um Jesus conhecido, pode-se dizer, segundo a carne, por aqueles que não sobem a montanha através de seus milagres e sermões, e um Jesus conhecido teologicamente, através de todos os Evangelhos,  e visto, por meio de seu conhecimento [da teologia dos Evangelhos, i.é, o Espírito com o qual foram escritos], em forma divina; diante destes, Jesus se transfigura, não diante daqueles que estão aos pés da montanha, lá embaixo. Depois que seu rosto transfigurado se tornará como o sol, revelar-se-á aos filhos da luz, que se despojaram das obras das trevas e vestiram as armas da luz </a:t>
            </a:r>
            <a:r>
              <a:rPr lang="pt-BR" sz="1600" dirty="0">
                <a:solidFill>
                  <a:schemeClr val="tx1"/>
                </a:solidFill>
                <a:effectLst/>
                <a:latin typeface="Palatino Linotype" panose="02040502050505030304" pitchFamily="18" charset="0"/>
              </a:rPr>
              <a:t>(Rom 13,12) e não serão mais filhos das trevas e da noite, mas do dia (1Tes 5,5) e caminharão no esplendor do dia (1Tes 4,12),  então ele se manifestará aos olhos deles, não apenas como sol, mas como o sol da justiça (Rom 13,13).</a:t>
            </a:r>
            <a:br>
              <a:rPr lang="pt-BR" sz="1600" dirty="0">
                <a:solidFill>
                  <a:schemeClr val="tx1"/>
                </a:solidFill>
                <a:effectLst/>
                <a:latin typeface="Palatino Linotype" panose="02040502050505030304" pitchFamily="18" charset="0"/>
              </a:rPr>
            </a:br>
            <a:r>
              <a:rPr lang="pt-BR" sz="1600" i="1" dirty="0">
                <a:solidFill>
                  <a:schemeClr val="tx1"/>
                </a:solidFill>
                <a:effectLst/>
                <a:latin typeface="Palatino Linotype" panose="02040502050505030304" pitchFamily="18" charset="0"/>
              </a:rPr>
              <a:t>Comentário ao evangelho de Mateo</a:t>
            </a:r>
            <a:r>
              <a:rPr lang="pt-BR" sz="1600" dirty="0">
                <a:solidFill>
                  <a:schemeClr val="tx1"/>
                </a:solidFill>
                <a:effectLst/>
                <a:latin typeface="Palatino Linotype" panose="02040502050505030304" pitchFamily="18" charset="0"/>
              </a:rPr>
              <a:t>, 12,37.</a:t>
            </a:r>
            <a:br>
              <a:rPr lang="pt-BR" sz="1600" dirty="0">
                <a:solidFill>
                  <a:schemeClr val="tx1"/>
                </a:solidFill>
                <a:effectLst/>
                <a:latin typeface="Palatino Linotype" panose="02040502050505030304" pitchFamily="18" charset="0"/>
              </a:rPr>
            </a:br>
            <a:endParaRPr lang="pt-BR" sz="1600" dirty="0">
              <a:solidFill>
                <a:schemeClr val="tx1"/>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D244BEF7-342F-E60D-AECF-25DC6D9EB84B}"/>
              </a:ext>
            </a:extLst>
          </p:cNvPr>
          <p:cNvSpPr>
            <a:spLocks noGrp="1"/>
          </p:cNvSpPr>
          <p:nvPr>
            <p:ph type="subTitle" idx="1"/>
          </p:nvPr>
        </p:nvSpPr>
        <p:spPr>
          <a:xfrm>
            <a:off x="8316416" y="6021288"/>
            <a:ext cx="149840"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1563941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1DC07-57AD-01E9-2F72-A63B53E2E0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7A9A1D-A09F-BE01-A97F-E7BBFE82ED37}"/>
              </a:ext>
            </a:extLst>
          </p:cNvPr>
          <p:cNvSpPr>
            <a:spLocks noGrp="1"/>
          </p:cNvSpPr>
          <p:nvPr>
            <p:ph type="ctrTitle"/>
          </p:nvPr>
        </p:nvSpPr>
        <p:spPr>
          <a:xfrm>
            <a:off x="827584" y="980728"/>
            <a:ext cx="7344816" cy="5328592"/>
          </a:xfrm>
        </p:spPr>
        <p:txBody>
          <a:bodyPr>
            <a:normAutofit/>
            <a:scene3d>
              <a:camera prst="orthographicFront"/>
              <a:lightRig rig="freezing" dir="t">
                <a:rot lat="0" lon="0" rev="5640000"/>
              </a:lightRig>
            </a:scene3d>
            <a:sp3d prstMaterial="flat">
              <a:contourClr>
                <a:schemeClr val="tx2"/>
              </a:contourClr>
            </a:sp3d>
          </a:bodyPr>
          <a:lstStyle/>
          <a:p>
            <a:pPr algn="l"/>
            <a:r>
              <a:rPr lang="pt-BR" sz="1600" dirty="0">
                <a:solidFill>
                  <a:srgbClr val="FFC000"/>
                </a:solidFill>
                <a:effectLst/>
                <a:latin typeface="Palatino Linotype" panose="02040502050505030304" pitchFamily="18" charset="0"/>
              </a:rPr>
              <a:t>SÃO PEDRO O VENERÁVEL </a:t>
            </a:r>
            <a:r>
              <a:rPr lang="pt-BR" sz="1600" dirty="0">
                <a:solidFill>
                  <a:schemeClr val="tx1"/>
                </a:solidFill>
                <a:effectLst/>
                <a:latin typeface="Palatino Linotype" panose="02040502050505030304" pitchFamily="18" charset="0"/>
              </a:rPr>
              <a:t>(s. XII) comenta: “o rosto dEle brilhou como o sol” (Mt 17,2):</a:t>
            </a:r>
            <a:br>
              <a:rPr lang="pt-BR" sz="1600" dirty="0">
                <a:solidFill>
                  <a:schemeClr val="tx1"/>
                </a:solidFill>
                <a:effectLst/>
                <a:latin typeface="Palatino Linotype" panose="02040502050505030304" pitchFamily="18" charset="0"/>
              </a:rPr>
            </a:br>
            <a:r>
              <a:rPr lang="pt-BR" sz="1600" dirty="0">
                <a:solidFill>
                  <a:schemeClr val="tx1"/>
                </a:solidFill>
                <a:effectLst/>
                <a:latin typeface="Palatino Linotype" panose="02040502050505030304" pitchFamily="18" charset="0"/>
              </a:rPr>
              <a:t>Este Sol não se ocultará mais para ti, ele te oferece uma manhã eternamente serena. Este Sol não estará mais coberto de nuvens, mas sempre brilhando te ilumina com uma luz incessante. </a:t>
            </a:r>
            <a:r>
              <a:rPr lang="pt-BR" sz="1600" dirty="0">
                <a:solidFill>
                  <a:srgbClr val="FFC000"/>
                </a:solidFill>
                <a:effectLst/>
                <a:latin typeface="Palatino Linotype" panose="02040502050505030304" pitchFamily="18" charset="0"/>
              </a:rPr>
              <a:t>Este Sol não te cega, mas te ajuda a enxergar, ele te invade com esplendor divino</a:t>
            </a:r>
            <a:r>
              <a:rPr lang="pt-BR" sz="1600" dirty="0">
                <a:solidFill>
                  <a:schemeClr val="tx1"/>
                </a:solidFill>
                <a:effectLst/>
                <a:latin typeface="Palatino Linotype" panose="02040502050505030304" pitchFamily="18" charset="0"/>
              </a:rPr>
              <a:t>. Este Sol não conhece eclipse, porque seu brilho não é interrompido por nenhum dos teus sofrimentos; pois "não haverá mais morte, nem luto, nem tristeza, nem choro" que possa obscurecer o esplendor que Deus tem te dado. […] </a:t>
            </a:r>
            <a:r>
              <a:rPr lang="pt-BR" sz="1600" dirty="0">
                <a:solidFill>
                  <a:srgbClr val="FFC000"/>
                </a:solidFill>
                <a:effectLst/>
                <a:latin typeface="Palatino Linotype" panose="02040502050505030304" pitchFamily="18" charset="0"/>
              </a:rPr>
              <a:t>Esta é a tua luz eterna, que vem da face do Senhor. </a:t>
            </a:r>
            <a:br>
              <a:rPr lang="pt-BR" sz="1600" dirty="0">
                <a:solidFill>
                  <a:schemeClr val="tx1"/>
                </a:solidFill>
                <a:effectLst/>
                <a:latin typeface="Palatino Linotype" panose="02040502050505030304" pitchFamily="18" charset="0"/>
              </a:rPr>
            </a:br>
            <a:r>
              <a:rPr lang="pt-BR" sz="1600" i="1" dirty="0">
                <a:solidFill>
                  <a:schemeClr val="tx1"/>
                </a:solidFill>
                <a:effectLst/>
                <a:latin typeface="Palatino Linotype" panose="02040502050505030304" pitchFamily="18" charset="0"/>
              </a:rPr>
              <a:t>Sermão</a:t>
            </a:r>
            <a:r>
              <a:rPr lang="pt-BR" sz="1600" dirty="0">
                <a:solidFill>
                  <a:schemeClr val="tx1"/>
                </a:solidFill>
                <a:effectLst/>
                <a:latin typeface="Palatino Linotype" panose="02040502050505030304" pitchFamily="18" charset="0"/>
              </a:rPr>
              <a:t> 1</a:t>
            </a:r>
            <a:br>
              <a:rPr lang="pt-BR" sz="1600" dirty="0">
                <a:solidFill>
                  <a:schemeClr val="tx1"/>
                </a:solidFill>
                <a:effectLst/>
                <a:latin typeface="Palatino Linotype" panose="02040502050505030304" pitchFamily="18" charset="0"/>
              </a:rPr>
            </a:br>
            <a:br>
              <a:rPr lang="pt-BR" sz="1600" dirty="0">
                <a:solidFill>
                  <a:schemeClr val="tx1"/>
                </a:solidFill>
                <a:effectLst/>
                <a:latin typeface="Palatino Linotype" panose="02040502050505030304" pitchFamily="18" charset="0"/>
              </a:rPr>
            </a:br>
            <a:r>
              <a:rPr lang="pt-BR" sz="1600" dirty="0">
                <a:solidFill>
                  <a:srgbClr val="FFC000"/>
                </a:solidFill>
                <a:effectLst/>
                <a:latin typeface="Palatino Linotype" panose="02040502050505030304" pitchFamily="18" charset="0"/>
              </a:rPr>
              <a:t>SÃO GREGÓRIO PALAMAS</a:t>
            </a:r>
            <a:br>
              <a:rPr lang="pt-BR" sz="1600" dirty="0">
                <a:solidFill>
                  <a:schemeClr val="tx1"/>
                </a:solidFill>
                <a:effectLst/>
                <a:latin typeface="Palatino Linotype" panose="02040502050505030304" pitchFamily="18" charset="0"/>
              </a:rPr>
            </a:br>
            <a:r>
              <a:rPr lang="pt-BR" sz="1600" dirty="0">
                <a:solidFill>
                  <a:schemeClr val="tx1"/>
                </a:solidFill>
                <a:effectLst/>
                <a:latin typeface="Palatino Linotype" panose="02040502050505030304" pitchFamily="18" charset="0"/>
              </a:rPr>
              <a:t>(1296-1359) </a:t>
            </a:r>
            <a:br>
              <a:rPr lang="pt-BR" sz="1600" dirty="0">
                <a:solidFill>
                  <a:schemeClr val="tx1"/>
                </a:solidFill>
                <a:effectLst/>
                <a:latin typeface="Palatino Linotype" panose="02040502050505030304" pitchFamily="18" charset="0"/>
              </a:rPr>
            </a:br>
            <a:r>
              <a:rPr lang="pt-BR" sz="1600" dirty="0">
                <a:solidFill>
                  <a:schemeClr val="tx1"/>
                </a:solidFill>
                <a:effectLst/>
                <a:latin typeface="Palatino Linotype" panose="02040502050505030304" pitchFamily="18" charset="0"/>
              </a:rPr>
              <a:t>“Cristo foi transfigurado, não pela adição de algo que Ele não era, nem por uma transformação em algo que Ele não era, mas pela manifestação aos Seus discípulos do que Ele realmente era. </a:t>
            </a:r>
            <a:r>
              <a:rPr lang="pt-BR" sz="1600" dirty="0">
                <a:solidFill>
                  <a:srgbClr val="FFC000"/>
                </a:solidFill>
                <a:effectLst/>
                <a:latin typeface="Palatino Linotype" panose="02040502050505030304" pitchFamily="18" charset="0"/>
              </a:rPr>
              <a:t>Ele abriu os olhos deles para que, em vez de estarem cegos, pudessem ver</a:t>
            </a:r>
            <a:r>
              <a:rPr lang="pt-BR" sz="1600" dirty="0">
                <a:solidFill>
                  <a:schemeClr val="tx1"/>
                </a:solidFill>
                <a:effectLst/>
                <a:latin typeface="Palatino Linotype" panose="02040502050505030304" pitchFamily="18" charset="0"/>
              </a:rPr>
              <a:t>.”</a:t>
            </a:r>
            <a:br>
              <a:rPr lang="pt-BR" sz="1600" dirty="0">
                <a:solidFill>
                  <a:schemeClr val="tx1"/>
                </a:solidFill>
                <a:effectLst/>
                <a:latin typeface="Palatino Linotype" panose="02040502050505030304" pitchFamily="18" charset="0"/>
              </a:rPr>
            </a:br>
            <a:r>
              <a:rPr lang="pt-BR" sz="1600" i="1" dirty="0">
                <a:solidFill>
                  <a:schemeClr val="tx1"/>
                </a:solidFill>
                <a:effectLst/>
                <a:latin typeface="Palatino Linotype" panose="02040502050505030304" pitchFamily="18" charset="0"/>
              </a:rPr>
              <a:t>Homilia 34.</a:t>
            </a:r>
            <a:br>
              <a:rPr lang="pt-BR" sz="1600" dirty="0">
                <a:solidFill>
                  <a:schemeClr val="tx1"/>
                </a:solidFill>
                <a:effectLst/>
                <a:latin typeface="Palatino Linotype" panose="02040502050505030304" pitchFamily="18" charset="0"/>
              </a:rPr>
            </a:br>
            <a:br>
              <a:rPr lang="pt-BR" sz="1600" dirty="0">
                <a:solidFill>
                  <a:schemeClr val="tx1"/>
                </a:solidFill>
                <a:effectLst/>
                <a:latin typeface="Palatino Linotype" panose="02040502050505030304" pitchFamily="18" charset="0"/>
              </a:rPr>
            </a:br>
            <a:endParaRPr lang="pt-BR" sz="1600" dirty="0">
              <a:solidFill>
                <a:schemeClr val="tx1"/>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B7F91F94-BCBB-6335-C9F8-463963D41F6D}"/>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213470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C48DF-56DC-E6B3-A22A-5873887C33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BC08D0-9396-309D-1206-8414AC6AE14F}"/>
              </a:ext>
            </a:extLst>
          </p:cNvPr>
          <p:cNvSpPr>
            <a:spLocks noGrp="1"/>
          </p:cNvSpPr>
          <p:nvPr>
            <p:ph type="ctrTitle"/>
          </p:nvPr>
        </p:nvSpPr>
        <p:spPr>
          <a:xfrm>
            <a:off x="809582" y="728700"/>
            <a:ext cx="7524836" cy="5400600"/>
          </a:xfrm>
        </p:spPr>
        <p:txBody>
          <a:bodyPr>
            <a:noAutofit/>
            <a:scene3d>
              <a:camera prst="orthographicFront"/>
              <a:lightRig rig="freezing" dir="t">
                <a:rot lat="0" lon="0" rev="5640000"/>
              </a:lightRig>
            </a:scene3d>
            <a:sp3d prstMaterial="flat">
              <a:contourClr>
                <a:schemeClr val="tx2"/>
              </a:contourClr>
            </a:sp3d>
          </a:bodyPr>
          <a:lstStyle/>
          <a:p>
            <a:pPr algn="l"/>
            <a:r>
              <a:rPr lang="pt-BR" sz="1800" dirty="0">
                <a:solidFill>
                  <a:schemeClr val="tx1"/>
                </a:solidFill>
                <a:effectLst/>
                <a:latin typeface="Palatino Linotype" panose="02040502050505030304" pitchFamily="18" charset="0"/>
              </a:rPr>
              <a:t>Por tanto:</a:t>
            </a:r>
            <a:br>
              <a:rPr lang="pt-BR" sz="1800" dirty="0">
                <a:solidFill>
                  <a:schemeClr val="tx1"/>
                </a:solidFill>
                <a:effectLst/>
                <a:latin typeface="Palatino Linotype" panose="02040502050505030304" pitchFamily="18" charset="0"/>
              </a:rPr>
            </a:br>
            <a:br>
              <a:rPr lang="pt-BR" sz="1800" dirty="0">
                <a:solidFill>
                  <a:schemeClr val="tx1"/>
                </a:solidFill>
                <a:effectLst/>
                <a:latin typeface="Palatino Linotype" panose="02040502050505030304" pitchFamily="18" charset="0"/>
              </a:rPr>
            </a:br>
            <a:r>
              <a:rPr lang="pt-BR" sz="1800" dirty="0">
                <a:solidFill>
                  <a:srgbClr val="FFC000"/>
                </a:solidFill>
                <a:effectLst/>
                <a:latin typeface="Palatino Linotype" panose="02040502050505030304" pitchFamily="18" charset="0"/>
              </a:rPr>
              <a:t>O Espírito transfigura nossos sentidos e inteligência.</a:t>
            </a:r>
            <a:br>
              <a:rPr lang="pt-BR" sz="1800" dirty="0">
                <a:solidFill>
                  <a:schemeClr val="tx1"/>
                </a:solidFill>
                <a:effectLst/>
                <a:latin typeface="Palatino Linotype" panose="02040502050505030304" pitchFamily="18" charset="0"/>
              </a:rPr>
            </a:br>
            <a:r>
              <a:rPr lang="pt-BR" sz="1800" dirty="0">
                <a:solidFill>
                  <a:srgbClr val="FFC000"/>
                </a:solidFill>
                <a:effectLst/>
                <a:latin typeface="Palatino Linotype" panose="02040502050505030304" pitchFamily="18" charset="0"/>
              </a:rPr>
              <a:t>Sentidos espirituais e inteligência espiritual para ver a realidade, e o mais verdadeiro da realidade</a:t>
            </a:r>
            <a:r>
              <a:rPr lang="pt-BR" sz="1800" dirty="0">
                <a:solidFill>
                  <a:schemeClr val="tx1"/>
                </a:solidFill>
                <a:effectLst/>
                <a:latin typeface="Palatino Linotype" panose="02040502050505030304" pitchFamily="18" charset="0"/>
              </a:rPr>
              <a:t>: </a:t>
            </a:r>
            <a:r>
              <a:rPr lang="pt-BR" sz="1800" i="1" dirty="0">
                <a:solidFill>
                  <a:schemeClr val="tx1"/>
                </a:solidFill>
                <a:effectLst/>
                <a:latin typeface="Palatino Linotype" panose="02040502050505030304" pitchFamily="18" charset="0"/>
              </a:rPr>
              <a:t>REALIORA</a:t>
            </a:r>
            <a:r>
              <a:rPr lang="pt-BR" sz="1800" dirty="0">
                <a:solidFill>
                  <a:schemeClr val="tx1"/>
                </a:solidFill>
                <a:effectLst/>
                <a:latin typeface="Palatino Linotype" panose="02040502050505030304" pitchFamily="18" charset="0"/>
              </a:rPr>
              <a:t>:</a:t>
            </a:r>
            <a:br>
              <a:rPr lang="pt-BR" sz="1800" dirty="0">
                <a:solidFill>
                  <a:schemeClr val="tx1"/>
                </a:solidFill>
                <a:effectLst/>
                <a:latin typeface="Palatino Linotype" panose="02040502050505030304" pitchFamily="18" charset="0"/>
              </a:rPr>
            </a:br>
            <a:br>
              <a:rPr lang="pt-BR" sz="1800" dirty="0">
                <a:solidFill>
                  <a:schemeClr val="tx1"/>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O termo deriva da expressão latina "</a:t>
            </a:r>
            <a:r>
              <a:rPr lang="pt-BR" sz="1800" i="1" dirty="0">
                <a:solidFill>
                  <a:schemeClr val="tx1"/>
                </a:solidFill>
                <a:effectLst/>
                <a:latin typeface="Palatino Linotype" panose="02040502050505030304" pitchFamily="18" charset="0"/>
              </a:rPr>
              <a:t>a realibus ad realiora</a:t>
            </a:r>
            <a:r>
              <a:rPr lang="pt-BR" sz="1800" dirty="0">
                <a:solidFill>
                  <a:schemeClr val="tx1"/>
                </a:solidFill>
                <a:effectLst/>
                <a:latin typeface="Palatino Linotype" panose="02040502050505030304" pitchFamily="18" charset="0"/>
              </a:rPr>
              <a:t>”:</a:t>
            </a:r>
            <a:br>
              <a:rPr lang="pt-BR" sz="1800" dirty="0">
                <a:solidFill>
                  <a:schemeClr val="tx1"/>
                </a:solidFill>
                <a:effectLst/>
                <a:latin typeface="Palatino Linotype" panose="02040502050505030304" pitchFamily="18" charset="0"/>
              </a:rPr>
            </a:br>
            <a:r>
              <a:rPr lang="pt-BR" sz="1800" dirty="0">
                <a:solidFill>
                  <a:srgbClr val="FFC000"/>
                </a:solidFill>
                <a:effectLst/>
                <a:latin typeface="Palatino Linotype" panose="02040502050505030304" pitchFamily="18" charset="0"/>
              </a:rPr>
              <a:t>ir </a:t>
            </a:r>
            <a:r>
              <a:rPr lang="pt-BR" sz="1800" i="1" u="sng" dirty="0">
                <a:solidFill>
                  <a:srgbClr val="FFC000"/>
                </a:solidFill>
                <a:effectLst/>
                <a:latin typeface="Palatino Linotype" panose="02040502050505030304" pitchFamily="18" charset="0"/>
              </a:rPr>
              <a:t>do real</a:t>
            </a:r>
            <a:r>
              <a:rPr lang="pt-BR" sz="1800" i="1" dirty="0">
                <a:solidFill>
                  <a:srgbClr val="FFC000"/>
                </a:solidFill>
                <a:effectLst/>
                <a:latin typeface="Palatino Linotype" panose="02040502050505030304" pitchFamily="18" charset="0"/>
              </a:rPr>
              <a:t> em direção </a:t>
            </a:r>
            <a:r>
              <a:rPr lang="pt-BR" sz="1800" i="1" u="sng" dirty="0">
                <a:solidFill>
                  <a:srgbClr val="FFC000"/>
                </a:solidFill>
                <a:effectLst/>
                <a:latin typeface="Palatino Linotype" panose="02040502050505030304" pitchFamily="18" charset="0"/>
              </a:rPr>
              <a:t>ao que é mais real</a:t>
            </a:r>
            <a:r>
              <a:rPr lang="pt-BR" sz="1800" dirty="0">
                <a:solidFill>
                  <a:schemeClr val="tx1"/>
                </a:solidFill>
                <a:effectLst/>
                <a:latin typeface="Palatino Linotype" panose="02040502050505030304" pitchFamily="18" charset="0"/>
              </a:rPr>
              <a:t>, (V. Ivanov) </a:t>
            </a:r>
            <a:br>
              <a:rPr lang="pt-BR" sz="1800" dirty="0">
                <a:solidFill>
                  <a:schemeClr val="tx1"/>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(cf. Pavel Florensky, </a:t>
            </a:r>
            <a:r>
              <a:rPr lang="pt-BR" sz="1800" i="1" dirty="0">
                <a:solidFill>
                  <a:schemeClr val="tx1"/>
                </a:solidFill>
                <a:effectLst/>
                <a:latin typeface="Palatino Linotype" panose="02040502050505030304" pitchFamily="18" charset="0"/>
              </a:rPr>
              <a:t>Coluna e fundamento da verdade</a:t>
            </a:r>
            <a:r>
              <a:rPr lang="pt-BR" sz="1800" dirty="0">
                <a:solidFill>
                  <a:schemeClr val="tx1"/>
                </a:solidFill>
                <a:effectLst/>
                <a:latin typeface="Palatino Linotype" panose="02040502050505030304" pitchFamily="18" charset="0"/>
              </a:rPr>
              <a:t>). </a:t>
            </a:r>
            <a:br>
              <a:rPr lang="pt-BR" sz="1800" dirty="0">
                <a:solidFill>
                  <a:schemeClr val="tx1"/>
                </a:solidFill>
                <a:effectLst/>
                <a:latin typeface="Palatino Linotype" panose="02040502050505030304" pitchFamily="18" charset="0"/>
              </a:rPr>
            </a:br>
            <a:br>
              <a:rPr lang="pt-BR" sz="1800" dirty="0">
                <a:solidFill>
                  <a:schemeClr val="tx1"/>
                </a:solidFill>
                <a:effectLst/>
                <a:latin typeface="Palatino Linotype" panose="02040502050505030304" pitchFamily="18" charset="0"/>
              </a:rPr>
            </a:br>
            <a:r>
              <a:rPr lang="pt-BR" sz="1800" dirty="0">
                <a:solidFill>
                  <a:srgbClr val="FFC000"/>
                </a:solidFill>
                <a:effectLst/>
                <a:latin typeface="Palatino Linotype" panose="02040502050505030304" pitchFamily="18" charset="0"/>
              </a:rPr>
              <a:t>Transcendência pelo Material: </a:t>
            </a:r>
            <a:br>
              <a:rPr lang="pt-BR" sz="1800" dirty="0">
                <a:solidFill>
                  <a:srgbClr val="FFC000"/>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A ideia sugere que o mundo material (</a:t>
            </a:r>
            <a:r>
              <a:rPr lang="pt-BR" sz="1800" i="1" dirty="0">
                <a:solidFill>
                  <a:schemeClr val="tx1"/>
                </a:solidFill>
                <a:effectLst/>
                <a:latin typeface="Palatino Linotype" panose="02040502050505030304" pitchFamily="18" charset="0"/>
              </a:rPr>
              <a:t>realia</a:t>
            </a:r>
            <a:r>
              <a:rPr lang="pt-BR" sz="1800" dirty="0">
                <a:solidFill>
                  <a:schemeClr val="tx1"/>
                </a:solidFill>
                <a:effectLst/>
                <a:latin typeface="Palatino Linotype" panose="02040502050505030304" pitchFamily="18" charset="0"/>
              </a:rPr>
              <a:t>) não é negativo, mas um trampolim para reconhecer e contemplar o mais real, as verdades eternas e divinas (</a:t>
            </a:r>
            <a:r>
              <a:rPr lang="pt-BR" sz="1800" i="1" dirty="0">
                <a:solidFill>
                  <a:schemeClr val="tx1"/>
                </a:solidFill>
                <a:effectLst/>
                <a:latin typeface="Palatino Linotype" panose="02040502050505030304" pitchFamily="18" charset="0"/>
              </a:rPr>
              <a:t>realiora</a:t>
            </a:r>
            <a:r>
              <a:rPr lang="pt-BR" sz="1800" dirty="0">
                <a:solidFill>
                  <a:schemeClr val="tx1"/>
                </a:solidFill>
                <a:effectLst/>
                <a:latin typeface="Palatino Linotype" panose="02040502050505030304" pitchFamily="18" charset="0"/>
              </a:rPr>
              <a:t>).</a:t>
            </a:r>
            <a:br>
              <a:rPr lang="pt-BR" sz="1800" dirty="0">
                <a:solidFill>
                  <a:schemeClr val="tx1"/>
                </a:solidFill>
                <a:effectLst/>
                <a:latin typeface="Palatino Linotype" panose="02040502050505030304" pitchFamily="18" charset="0"/>
              </a:rPr>
            </a:br>
            <a:br>
              <a:rPr lang="pt-BR" sz="1800" dirty="0">
                <a:solidFill>
                  <a:schemeClr val="tx1"/>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	Teologia do Ícone</a:t>
            </a:r>
            <a:br>
              <a:rPr lang="pt-BR" sz="1800" dirty="0">
                <a:solidFill>
                  <a:schemeClr val="tx1"/>
                </a:solidFill>
                <a:effectLst/>
                <a:latin typeface="Palatino Linotype" panose="02040502050505030304" pitchFamily="18" charset="0"/>
              </a:rPr>
            </a:br>
            <a:br>
              <a:rPr lang="pt-BR" sz="1800" dirty="0">
                <a:solidFill>
                  <a:schemeClr val="tx1"/>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	Liturgia</a:t>
            </a:r>
            <a:br>
              <a:rPr lang="pt-BR" sz="1800" dirty="0">
                <a:effectLst/>
                <a:latin typeface="Palatino Linotype" panose="02040502050505030304" pitchFamily="18" charset="0"/>
              </a:rPr>
            </a:br>
            <a:endParaRPr lang="pt-BR" sz="1800" dirty="0">
              <a:solidFill>
                <a:srgbClr val="FFC000"/>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15067B60-54DD-D703-1A3D-12FD3FAB9BA8}"/>
              </a:ext>
            </a:extLst>
          </p:cNvPr>
          <p:cNvSpPr>
            <a:spLocks noGrp="1"/>
          </p:cNvSpPr>
          <p:nvPr>
            <p:ph type="subTitle" idx="1"/>
          </p:nvPr>
        </p:nvSpPr>
        <p:spPr>
          <a:xfrm flipH="1">
            <a:off x="8466256" y="6021288"/>
            <a:ext cx="282208"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2511885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F8984-2DA5-769E-A9DA-DB4E3BA760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6FC4EF9-FB3F-F742-E1EA-2C8C4471DE09}"/>
              </a:ext>
            </a:extLst>
          </p:cNvPr>
          <p:cNvSpPr>
            <a:spLocks noGrp="1"/>
          </p:cNvSpPr>
          <p:nvPr>
            <p:ph type="ctrTitle"/>
          </p:nvPr>
        </p:nvSpPr>
        <p:spPr>
          <a:xfrm>
            <a:off x="682946" y="861120"/>
            <a:ext cx="8136904" cy="5688632"/>
          </a:xfrm>
        </p:spPr>
        <p:txBody>
          <a:bodyPr>
            <a:noAutofit/>
            <a:scene3d>
              <a:camera prst="orthographicFront"/>
              <a:lightRig rig="freezing" dir="t">
                <a:rot lat="0" lon="0" rev="5640000"/>
              </a:lightRig>
            </a:scene3d>
            <a:sp3d prstMaterial="flat">
              <a:contourClr>
                <a:schemeClr val="tx2"/>
              </a:contourClr>
            </a:sp3d>
          </a:bodyPr>
          <a:lstStyle/>
          <a:p>
            <a:pPr algn="l"/>
            <a:r>
              <a:rPr lang="pt-BR" sz="2000" dirty="0">
                <a:solidFill>
                  <a:srgbClr val="FFC000"/>
                </a:solidFill>
                <a:latin typeface="Palatino Linotype" panose="02040502050505030304" pitchFamily="18" charset="0"/>
              </a:rPr>
              <a:t>CONHECIMENTO ESPIRITUAL</a:t>
            </a:r>
            <a:br>
              <a:rPr lang="pt-BR" sz="2000" dirty="0">
                <a:solidFill>
                  <a:schemeClr val="tx1"/>
                </a:solidFill>
                <a:latin typeface="Palatino Linotype" panose="02040502050505030304" pitchFamily="18" charset="0"/>
              </a:rPr>
            </a:br>
            <a:br>
              <a:rPr lang="pt-BR" sz="2000" dirty="0">
                <a:solidFill>
                  <a:schemeClr val="tx1"/>
                </a:solidFill>
                <a:latin typeface="Palatino Linotype" panose="02040502050505030304" pitchFamily="18" charset="0"/>
              </a:rPr>
            </a:br>
            <a:r>
              <a:rPr lang="pt-BR" sz="2000" dirty="0">
                <a:solidFill>
                  <a:srgbClr val="FFC000"/>
                </a:solidFill>
                <a:effectLst/>
                <a:latin typeface="Palatino Linotype" panose="02040502050505030304" pitchFamily="18" charset="0"/>
              </a:rPr>
              <a:t>A acolhida e cultivo (“mútuo habituar-se”) dessa Luz é a verdadeira </a:t>
            </a:r>
            <a:r>
              <a:rPr lang="pt-BR" sz="2000" i="1" dirty="0">
                <a:solidFill>
                  <a:srgbClr val="FFC000"/>
                </a:solidFill>
                <a:effectLst/>
                <a:latin typeface="Palatino Linotype" panose="02040502050505030304" pitchFamily="18" charset="0"/>
              </a:rPr>
              <a:t>théosis</a:t>
            </a:r>
            <a:r>
              <a:rPr lang="pt-BR" sz="2000" dirty="0">
                <a:solidFill>
                  <a:srgbClr val="FFC000"/>
                </a:solidFill>
                <a:effectLst/>
                <a:latin typeface="Palatino Linotype" panose="02040502050505030304" pitchFamily="18" charset="0"/>
              </a:rPr>
              <a:t> (</a:t>
            </a:r>
            <a:r>
              <a:rPr lang="pt-BR" sz="2000" i="1" dirty="0">
                <a:solidFill>
                  <a:srgbClr val="FFC000"/>
                </a:solidFill>
                <a:effectLst/>
                <a:latin typeface="Palatino Linotype" panose="02040502050505030304" pitchFamily="18" charset="0"/>
              </a:rPr>
              <a:t>divinização</a:t>
            </a:r>
            <a:r>
              <a:rPr lang="pt-BR" sz="2000" dirty="0">
                <a:solidFill>
                  <a:srgbClr val="FFC000"/>
                </a:solidFill>
                <a:effectLst/>
                <a:latin typeface="Palatino Linotype" panose="02040502050505030304" pitchFamily="18" charset="0"/>
              </a:rPr>
              <a:t>), alcançada pela operação do Espírito Santo.</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1Cor 2,10ss:</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“Deus nos revelou tudo isto [a sua Sabedoria e a sua Obra] pelo seu Espírito, porque o Espírito penetra tudo, mesmo as profundezas de Deus. Ninguém conhece as coisas de Deus, senão o Espírito de Deus. Nós não conhecemos o espírito do mundo, mas sim o Espírito que vem de Deus, para conhecer as coisas que Deus gratuitamente nos deu. Dessas coisas nós falamos numa linguagem que nos foi ensinada não pela sabedoria humana, mas pelo Espírito, que junta as coisas espirituais das espirituais. Mas o homem psíquico não aceita as coisas do Espírito de Deus, pois para ele são necedade. Nem as pode compreender, porque é pelo Espírito que se devem discernir. O homem espiritual [pneumatikós], ao contrário, discerne todas as coisas... Nós temos a mente de Cristo.”</a:t>
            </a:r>
            <a:br>
              <a:rPr lang="pt-BR" sz="1600" dirty="0">
                <a:solidFill>
                  <a:schemeClr val="tx1"/>
                </a:solidFill>
                <a:latin typeface="Palatino Linotype" panose="02040502050505030304" pitchFamily="18" charset="0"/>
              </a:rPr>
            </a:br>
            <a:endParaRPr lang="pt-BR" sz="1600" dirty="0">
              <a:solidFill>
                <a:schemeClr val="tx1"/>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141D47E9-11EB-11EB-B053-D5821CF388B9}"/>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2065959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69E2B-2E45-9833-65A6-339E5216118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C22292-B756-AEEA-D6E1-E1F1187D56D5}"/>
              </a:ext>
            </a:extLst>
          </p:cNvPr>
          <p:cNvSpPr>
            <a:spLocks noGrp="1"/>
          </p:cNvSpPr>
          <p:nvPr>
            <p:ph type="ctrTitle"/>
          </p:nvPr>
        </p:nvSpPr>
        <p:spPr>
          <a:xfrm>
            <a:off x="752664" y="1484306"/>
            <a:ext cx="7638672" cy="4536504"/>
          </a:xfrm>
        </p:spPr>
        <p:txBody>
          <a:bodyPr>
            <a:normAutofit/>
            <a:scene3d>
              <a:camera prst="orthographicFront"/>
              <a:lightRig rig="freezing" dir="t">
                <a:rot lat="0" lon="0" rev="5640000"/>
              </a:lightRig>
            </a:scene3d>
            <a:sp3d prstMaterial="flat">
              <a:contourClr>
                <a:schemeClr val="tx2"/>
              </a:contourClr>
            </a:sp3d>
          </a:bodyPr>
          <a:lstStyle/>
          <a:p>
            <a:pPr algn="l"/>
            <a:r>
              <a:rPr lang="pt-BR" sz="2000" dirty="0">
                <a:solidFill>
                  <a:srgbClr val="FFC000"/>
                </a:solidFill>
                <a:effectLst/>
                <a:latin typeface="Palatino Linotype" panose="02040502050505030304" pitchFamily="18" charset="0"/>
              </a:rPr>
              <a:t>Sal 139/138 :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“Yhwh, vós me perscrutais e conheceis... plasmastes as entranhas do meu corpo... nada de minha substancia vos é oculto... Ó Deus, como são insondáveis para mim vossos desígnios... Vede se ando na senda do mal, e conduzi-me pelo caminho da eternidade.”</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Desse conhecimento podemos participar: </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Sal 36/35,10: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“em vós está a fonte da vida, e é na vossa luz que vemos a luz.”</a:t>
            </a:r>
            <a:br>
              <a:rPr lang="pt-BR" sz="1600" dirty="0">
                <a:effectLst/>
                <a:latin typeface="Palatino Linotype" panose="02040502050505030304" pitchFamily="18" charset="0"/>
              </a:rPr>
            </a:br>
            <a:endParaRPr lang="pt-BR" sz="1600" dirty="0">
              <a:solidFill>
                <a:srgbClr val="FFC000"/>
              </a:solidFill>
              <a:latin typeface="Tempus Sans ITC" pitchFamily="82" charset="0"/>
            </a:endParaRPr>
          </a:p>
        </p:txBody>
      </p:sp>
      <p:sp>
        <p:nvSpPr>
          <p:cNvPr id="3" name="Subtítulo 2">
            <a:extLst>
              <a:ext uri="{FF2B5EF4-FFF2-40B4-BE49-F238E27FC236}">
                <a16:creationId xmlns:a16="http://schemas.microsoft.com/office/drawing/2014/main" id="{1A8246B6-352F-F368-812F-F924F47B4C89}"/>
              </a:ext>
            </a:extLst>
          </p:cNvPr>
          <p:cNvSpPr>
            <a:spLocks noGrp="1"/>
          </p:cNvSpPr>
          <p:nvPr>
            <p:ph type="subTitle" idx="1"/>
          </p:nvPr>
        </p:nvSpPr>
        <p:spPr>
          <a:xfrm flipH="1">
            <a:off x="8466255" y="6021288"/>
            <a:ext cx="45719"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38593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BBC20-6D1E-349A-7626-4E93EE40C50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ACBA08B-538B-1E91-BE47-EF974E3364D3}"/>
              </a:ext>
            </a:extLst>
          </p:cNvPr>
          <p:cNvSpPr>
            <a:spLocks noGrp="1"/>
          </p:cNvSpPr>
          <p:nvPr>
            <p:ph type="ctrTitle"/>
          </p:nvPr>
        </p:nvSpPr>
        <p:spPr>
          <a:xfrm>
            <a:off x="611560" y="980728"/>
            <a:ext cx="7854696" cy="5400600"/>
          </a:xfrm>
        </p:spPr>
        <p:txBody>
          <a:bodyPr>
            <a:normAutofit/>
            <a:scene3d>
              <a:camera prst="orthographicFront"/>
              <a:lightRig rig="freezing" dir="t">
                <a:rot lat="0" lon="0" rev="5640000"/>
              </a:lightRig>
            </a:scene3d>
            <a:sp3d prstMaterial="flat">
              <a:contourClr>
                <a:schemeClr val="tx2"/>
              </a:contourClr>
            </a:sp3d>
          </a:bodyPr>
          <a:lstStyle/>
          <a:p>
            <a:pPr algn="l"/>
            <a:r>
              <a:rPr lang="pt-BR" sz="2000" dirty="0">
                <a:solidFill>
                  <a:srgbClr val="FFC000"/>
                </a:solidFill>
                <a:effectLst/>
                <a:latin typeface="Palatino Linotype" panose="02040502050505030304" pitchFamily="18" charset="0"/>
              </a:rPr>
              <a:t>Porque a realidade é simbólico – sacramental: </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Rom 8,28:</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“Deus coordena toda sua atividade / Deus intervém em tudo para o bem dos que lhe amam, dos que são chamados segundo seu desígnio.”</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Em cada situação/experiência, </a:t>
            </a:r>
            <a:r>
              <a:rPr lang="pt-BR" sz="2000" u="sng" dirty="0">
                <a:solidFill>
                  <a:srgbClr val="FFC000"/>
                </a:solidFill>
                <a:effectLst/>
                <a:latin typeface="Palatino Linotype" panose="02040502050505030304" pitchFamily="18" charset="0"/>
              </a:rPr>
              <a:t>perguntar ao Senhor</a:t>
            </a:r>
            <a:r>
              <a:rPr lang="pt-BR" sz="2000" dirty="0">
                <a:solidFill>
                  <a:srgbClr val="FFC000"/>
                </a:solidFill>
                <a:effectLst/>
                <a:latin typeface="Palatino Linotype" panose="02040502050505030304" pitchFamily="18" charset="0"/>
              </a:rPr>
              <a:t>:</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Quem es tu, Senhor? / Que me diz o Senhor dEle mesmo?</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Que me diz o Senhor de mim mesmo?</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Qual o caminho que me mostra? </a:t>
            </a:r>
            <a:br>
              <a:rPr lang="pt-BR" sz="2000" dirty="0">
                <a:solidFill>
                  <a:schemeClr val="tx1"/>
                </a:solidFill>
                <a:effectLst/>
                <a:latin typeface="Palatino Linotype" panose="02040502050505030304" pitchFamily="18" charset="0"/>
              </a:rPr>
            </a:br>
            <a:endParaRPr lang="pt-BR" sz="2000" dirty="0">
              <a:solidFill>
                <a:schemeClr val="tx1"/>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C58F7B0F-DD99-5748-ED85-92C637AC779E}"/>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2648123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294AD-50D7-C0B3-D26F-CAC2153B355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5C5582-2453-9092-B94A-85B16F2585FA}"/>
              </a:ext>
            </a:extLst>
          </p:cNvPr>
          <p:cNvSpPr>
            <a:spLocks noGrp="1"/>
          </p:cNvSpPr>
          <p:nvPr>
            <p:ph type="ctrTitle"/>
          </p:nvPr>
        </p:nvSpPr>
        <p:spPr>
          <a:xfrm>
            <a:off x="689392" y="908720"/>
            <a:ext cx="7776864" cy="5112568"/>
          </a:xfrm>
        </p:spPr>
        <p:txBody>
          <a:bodyPr>
            <a:normAutofit/>
            <a:scene3d>
              <a:camera prst="orthographicFront"/>
              <a:lightRig rig="freezing" dir="t">
                <a:rot lat="0" lon="0" rev="5640000"/>
              </a:lightRig>
            </a:scene3d>
            <a:sp3d prstMaterial="flat">
              <a:contourClr>
                <a:schemeClr val="tx2"/>
              </a:contourClr>
            </a:sp3d>
          </a:bodyPr>
          <a:lstStyle/>
          <a:p>
            <a:pPr algn="l"/>
            <a:r>
              <a:rPr lang="pt-BR" sz="2000" dirty="0">
                <a:solidFill>
                  <a:srgbClr val="FFC000"/>
                </a:solidFill>
                <a:effectLst/>
                <a:latin typeface="Palatino Linotype" panose="02040502050505030304" pitchFamily="18" charset="0"/>
              </a:rPr>
              <a:t>II. CONTEMPLATIVO NA AÇÃO</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Homem espiritual no meio do mundo</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Reconhecer a parte no todo, e toda a Obra nas particularidades. </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Ver Deus e sua atividade em todas as coisas e ver todas as coisas, atividades e relações em Deus. </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Esta atitude orante, como expressão do orar constantemente. </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Junto com a consolação, é condição para o discernimento e para decidir.</a:t>
            </a:r>
            <a:endParaRPr lang="pt-BR" sz="2000" dirty="0">
              <a:solidFill>
                <a:schemeClr val="tx1"/>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346030A0-261C-285F-6511-79CCF90445C5}"/>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2912253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26D4B-0DE2-74AF-369F-DE60CD1F22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D5D099-739C-ADD2-DDAB-DBD1DEE8639A}"/>
              </a:ext>
            </a:extLst>
          </p:cNvPr>
          <p:cNvSpPr>
            <a:spLocks noGrp="1"/>
          </p:cNvSpPr>
          <p:nvPr>
            <p:ph type="ctrTitle"/>
          </p:nvPr>
        </p:nvSpPr>
        <p:spPr>
          <a:xfrm>
            <a:off x="611560" y="814416"/>
            <a:ext cx="8136904" cy="6077804"/>
          </a:xfrm>
        </p:spPr>
        <p:txBody>
          <a:bodyPr>
            <a:noAutofit/>
            <a:scene3d>
              <a:camera prst="orthographicFront"/>
              <a:lightRig rig="freezing" dir="t">
                <a:rot lat="0" lon="0" rev="5640000"/>
              </a:lightRig>
            </a:scene3d>
            <a:sp3d prstMaterial="flat">
              <a:contourClr>
                <a:schemeClr val="tx2"/>
              </a:contourClr>
            </a:sp3d>
          </a:bodyPr>
          <a:lstStyle/>
          <a:p>
            <a:pPr algn="l"/>
            <a:r>
              <a:rPr lang="pt-BR" sz="1800" dirty="0">
                <a:solidFill>
                  <a:srgbClr val="FFC000"/>
                </a:solidFill>
                <a:effectLst/>
                <a:latin typeface="Palatino Linotype" panose="02040502050505030304" pitchFamily="18" charset="0"/>
              </a:rPr>
              <a:t>Esta atitude orante se concreta em 4 perspetivas:</a:t>
            </a:r>
            <a:br>
              <a:rPr lang="pt-BR" sz="1800" dirty="0">
                <a:solidFill>
                  <a:schemeClr val="tx1"/>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 </a:t>
            </a:r>
            <a:br>
              <a:rPr lang="pt-BR" sz="1800" dirty="0">
                <a:solidFill>
                  <a:schemeClr val="tx1"/>
                </a:solidFill>
                <a:effectLst/>
                <a:latin typeface="Palatino Linotype" panose="02040502050505030304" pitchFamily="18" charset="0"/>
              </a:rPr>
            </a:br>
            <a:r>
              <a:rPr lang="pt-BR" sz="1800" dirty="0">
                <a:solidFill>
                  <a:srgbClr val="FFC000"/>
                </a:solidFill>
                <a:effectLst/>
                <a:latin typeface="Palatino Linotype" panose="02040502050505030304" pitchFamily="18" charset="0"/>
              </a:rPr>
              <a:t>1. Recordar que tudo é dom e graça de Deus. Fazer memória dos benefícios recebidos de Deus. </a:t>
            </a:r>
            <a:br>
              <a:rPr lang="pt-BR" sz="1800" dirty="0">
                <a:solidFill>
                  <a:srgbClr val="FFC000"/>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1Tes 5,18: </a:t>
            </a:r>
            <a:r>
              <a:rPr lang="pt-BR" sz="1800" b="0" dirty="0">
                <a:solidFill>
                  <a:schemeClr val="tx1"/>
                </a:solidFill>
                <a:effectLst/>
                <a:latin typeface="Palatino Linotype" panose="02040502050505030304" pitchFamily="18" charset="0"/>
              </a:rPr>
              <a:t>“Em tudo, dai graças, porque esta é a vontade de Deus em Cristo Jesus para convosco.” </a:t>
            </a:r>
            <a:r>
              <a:rPr lang="pt-BR" sz="1800" dirty="0">
                <a:solidFill>
                  <a:schemeClr val="tx1"/>
                </a:solidFill>
                <a:effectLst/>
                <a:latin typeface="Palatino Linotype" panose="02040502050505030304" pitchFamily="18" charset="0"/>
              </a:rPr>
              <a:t>1Cor 15,10: </a:t>
            </a:r>
            <a:r>
              <a:rPr lang="pt-BR" sz="1800" b="0" dirty="0">
                <a:solidFill>
                  <a:schemeClr val="tx1"/>
                </a:solidFill>
                <a:effectLst/>
                <a:latin typeface="Palatino Linotype" panose="02040502050505030304" pitchFamily="18" charset="0"/>
              </a:rPr>
              <a:t>“Pela graça de Deus, sou o que sou, e a sua graça para comigo não foi inútil.”</a:t>
            </a:r>
            <a:br>
              <a:rPr lang="pt-BR" sz="1800" dirty="0">
                <a:solidFill>
                  <a:schemeClr val="tx1"/>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 </a:t>
            </a:r>
            <a:br>
              <a:rPr lang="pt-BR" sz="1800" dirty="0">
                <a:solidFill>
                  <a:schemeClr val="tx1"/>
                </a:solidFill>
                <a:effectLst/>
                <a:latin typeface="Palatino Linotype" panose="02040502050505030304" pitchFamily="18" charset="0"/>
              </a:rPr>
            </a:br>
            <a:r>
              <a:rPr lang="pt-BR" sz="1800" dirty="0">
                <a:solidFill>
                  <a:srgbClr val="FFC000"/>
                </a:solidFill>
                <a:effectLst/>
                <a:latin typeface="Palatino Linotype" panose="02040502050505030304" pitchFamily="18" charset="0"/>
              </a:rPr>
              <a:t>2. Ver como Deus habita na sua criação e nos faz templo do seu Espírito. </a:t>
            </a:r>
            <a:br>
              <a:rPr lang="pt-BR" sz="1800" dirty="0">
                <a:solidFill>
                  <a:srgbClr val="FFC000"/>
                </a:solidFill>
                <a:effectLst/>
                <a:latin typeface="Palatino Linotype" panose="02040502050505030304" pitchFamily="18" charset="0"/>
              </a:rPr>
            </a:br>
            <a:r>
              <a:rPr lang="pt-BR" sz="1800" dirty="0">
                <a:solidFill>
                  <a:schemeClr val="tx1"/>
                </a:solidFill>
                <a:effectLst/>
                <a:latin typeface="Palatino Linotype" panose="02040502050505030304" pitchFamily="18" charset="0"/>
              </a:rPr>
              <a:t>At 17,24-28</a:t>
            </a:r>
            <a:r>
              <a:rPr lang="pt-BR" sz="1800" b="0" dirty="0">
                <a:solidFill>
                  <a:schemeClr val="tx1"/>
                </a:solidFill>
                <a:effectLst/>
                <a:latin typeface="Palatino Linotype" panose="02040502050505030304" pitchFamily="18" charset="0"/>
              </a:rPr>
              <a:t>: “Deus, que fez o mundo e tudo o que nele há, sendo o Senhor do céu e da terra, não habita em templos feitos pelos homens, nem é servido pelas mãos dos homens, como se necessitasse de alguma coisa, ele que dá a todos a vida, a respiração e todas as coisas. De um só homem fez sair todo o gênero humano, para que habitasse sobre toda a face da terra, fixando aos povos a ordem dos tempos e os limites da sua habitação, para que busquem a Deus e o encontrem como que às apalpadelas, embora ele não esteja longe de cada um de nós, porque nele vivemos, nos movemos e existimos.” </a:t>
            </a:r>
            <a:r>
              <a:rPr lang="pt-BR" sz="1800" dirty="0">
                <a:solidFill>
                  <a:schemeClr val="tx1"/>
                </a:solidFill>
                <a:effectLst/>
                <a:latin typeface="Palatino Linotype" panose="02040502050505030304" pitchFamily="18" charset="0"/>
              </a:rPr>
              <a:t>1Cor 6,15ss:</a:t>
            </a:r>
            <a:r>
              <a:rPr lang="pt-BR" sz="1800" b="0" dirty="0">
                <a:solidFill>
                  <a:schemeClr val="tx1"/>
                </a:solidFill>
                <a:effectLst/>
                <a:latin typeface="Palatino Linotype" panose="02040502050505030304" pitchFamily="18" charset="0"/>
              </a:rPr>
              <a:t> “Não sabeis que os vossos corpos são membros de Cristo? Não sabeis que o que se junta com uma prostituta, torna-se um mesmo corpo com ela? Porque foi dito: Serão os dois uma só carne. Ao contrário, o que está unido ao Senhor é um só espírito com ele.”</a:t>
            </a:r>
            <a:br>
              <a:rPr lang="pt-BR" sz="1800" b="0" dirty="0">
                <a:solidFill>
                  <a:schemeClr val="tx1"/>
                </a:solidFill>
                <a:effectLst/>
                <a:latin typeface="Palatino Linotype" panose="02040502050505030304" pitchFamily="18" charset="0"/>
              </a:rPr>
            </a:br>
            <a:endParaRPr lang="pt-BR" sz="1800" b="0" dirty="0">
              <a:solidFill>
                <a:schemeClr val="tx1"/>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46A660BD-B33A-AE08-B2DC-3E8711ADC648}"/>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3656603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0FC0A-06DE-9900-39E5-18CC9E4AC38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B6B4D2-ED71-B577-4B9B-F48EEC2E641F}"/>
              </a:ext>
            </a:extLst>
          </p:cNvPr>
          <p:cNvSpPr>
            <a:spLocks noGrp="1"/>
          </p:cNvSpPr>
          <p:nvPr>
            <p:ph type="ctrTitle"/>
          </p:nvPr>
        </p:nvSpPr>
        <p:spPr>
          <a:xfrm>
            <a:off x="755575" y="548680"/>
            <a:ext cx="7472095" cy="5616624"/>
          </a:xfrm>
        </p:spPr>
        <p:txBody>
          <a:bodyPr>
            <a:normAutofit fontScale="90000"/>
            <a:scene3d>
              <a:camera prst="orthographicFront"/>
              <a:lightRig rig="freezing" dir="t">
                <a:rot lat="0" lon="0" rev="5640000"/>
              </a:lightRig>
            </a:scene3d>
            <a:sp3d prstMaterial="flat">
              <a:contourClr>
                <a:schemeClr val="tx2"/>
              </a:contourClr>
            </a:sp3d>
          </a:bodyPr>
          <a:lstStyle/>
          <a:p>
            <a:pPr lvl="0" algn="l"/>
            <a:r>
              <a:rPr lang="pt-BR" sz="2000" dirty="0">
                <a:solidFill>
                  <a:srgbClr val="FFC000"/>
                </a:solidFill>
                <a:effectLst/>
                <a:latin typeface="Palatino Linotype" panose="02040502050505030304" pitchFamily="18" charset="0"/>
              </a:rPr>
              <a:t>3. Considerar como Deus sempre trabalha, e obra para nós na historia e na criação. Considerar a ação vivificante do Espírito: Paráclito, Consolador, Memória viva de Jesus, Mestre e intérprete do </a:t>
            </a:r>
            <a:r>
              <a:rPr lang="pt-BR" sz="2000" i="1" dirty="0">
                <a:solidFill>
                  <a:srgbClr val="FFC000"/>
                </a:solidFill>
                <a:effectLst/>
                <a:latin typeface="Palatino Linotype" panose="02040502050505030304" pitchFamily="18" charset="0"/>
              </a:rPr>
              <a:t>Libro da criação e da história </a:t>
            </a:r>
            <a:r>
              <a:rPr lang="pt-BR" sz="2000" dirty="0">
                <a:solidFill>
                  <a:srgbClr val="FFC000"/>
                </a:solidFill>
                <a:effectLst/>
                <a:latin typeface="Palatino Linotype" panose="02040502050505030304" pitchFamily="18" charset="0"/>
              </a:rPr>
              <a:t>e do </a:t>
            </a:r>
            <a:r>
              <a:rPr lang="pt-BR" sz="2000" i="1" dirty="0">
                <a:solidFill>
                  <a:srgbClr val="FFC000"/>
                </a:solidFill>
                <a:effectLst/>
                <a:latin typeface="Palatino Linotype" panose="02040502050505030304" pitchFamily="18" charset="0"/>
              </a:rPr>
              <a:t>Libro da Sagrada Escritura</a:t>
            </a:r>
            <a:r>
              <a:rPr lang="pt-BR" sz="2000" dirty="0">
                <a:solidFill>
                  <a:srgbClr val="FFC000"/>
                </a:solidFill>
                <a:effectLst/>
                <a:latin typeface="Palatino Linotype" panose="02040502050505030304" pitchFamily="18" charset="0"/>
              </a:rPr>
              <a:t>, Força relacional e  de testemunho. </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Jo 5,17: </a:t>
            </a:r>
            <a:r>
              <a:rPr lang="pt-BR" sz="2000" b="0" dirty="0">
                <a:solidFill>
                  <a:schemeClr val="tx1"/>
                </a:solidFill>
                <a:effectLst/>
                <a:latin typeface="Palatino Linotype" panose="02040502050505030304" pitchFamily="18" charset="0"/>
              </a:rPr>
              <a:t>“Meu Pai não cessa de obrar até hoje, e eu obro também. ”Rom 8,28: “Deus coordena toda sua atividade / Deus intervém em tudo para o bem dos que lhe amam, dos que são chamados segundo seu desígnio.”</a:t>
            </a:r>
            <a:r>
              <a:rPr lang="pt-BR" sz="2000" dirty="0">
                <a:solidFill>
                  <a:schemeClr val="tx1"/>
                </a:solidFill>
                <a:effectLst/>
                <a:latin typeface="Palatino Linotype" panose="02040502050505030304" pitchFamily="18" charset="0"/>
              </a:rPr>
              <a:t> Cinco passagens sobre o Espírito em Jo 14 – 16.</a:t>
            </a:r>
            <a:br>
              <a:rPr lang="pt-BR" sz="2000" dirty="0">
                <a:solidFill>
                  <a:schemeClr val="tx1"/>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 </a:t>
            </a:r>
            <a:br>
              <a:rPr lang="pt-BR" sz="2000" dirty="0">
                <a:solidFill>
                  <a:schemeClr val="tx1"/>
                </a:solidFill>
                <a:effectLst/>
                <a:latin typeface="Palatino Linotype" panose="02040502050505030304" pitchFamily="18" charset="0"/>
              </a:rPr>
            </a:br>
            <a:br>
              <a:rPr lang="pt-BR" sz="2000" dirty="0">
                <a:solidFill>
                  <a:schemeClr val="tx1"/>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4. Observar como todos os bens e dons descendem de Deus e Ele se deixa reconhecer em seus dons. Toda a criação é o sacramento de Deus e de sua atividade. </a:t>
            </a:r>
            <a:br>
              <a:rPr lang="pt-BR" sz="2000" dirty="0">
                <a:solidFill>
                  <a:srgbClr val="FFC000"/>
                </a:solidFill>
                <a:effectLst/>
                <a:latin typeface="Palatino Linotype" panose="02040502050505030304" pitchFamily="18" charset="0"/>
              </a:rPr>
            </a:br>
            <a:r>
              <a:rPr lang="pt-BR" sz="2000" dirty="0">
                <a:solidFill>
                  <a:schemeClr val="tx1"/>
                </a:solidFill>
                <a:effectLst/>
                <a:latin typeface="Palatino Linotype" panose="02040502050505030304" pitchFamily="18" charset="0"/>
              </a:rPr>
              <a:t>Tg 1,16s: </a:t>
            </a:r>
            <a:r>
              <a:rPr lang="pt-BR" sz="2000" b="0" dirty="0">
                <a:solidFill>
                  <a:schemeClr val="tx1"/>
                </a:solidFill>
                <a:effectLst/>
                <a:latin typeface="Palatino Linotype" panose="02040502050505030304" pitchFamily="18" charset="0"/>
              </a:rPr>
              <a:t>“Toda a dádiva excelente, todo o dom perfeito vem do alto e desce do Pai que criou os astros do céu. Por sua vontade nos gerou pela palavra da verdade, a fim de que sejamos como que as primícias das suas criaturas.”</a:t>
            </a:r>
            <a:br>
              <a:rPr lang="pt-BR" sz="2000" b="0" dirty="0">
                <a:solidFill>
                  <a:schemeClr val="tx1"/>
                </a:solidFill>
                <a:effectLst/>
                <a:latin typeface="Palatino Linotype" panose="02040502050505030304" pitchFamily="18" charset="0"/>
              </a:rPr>
            </a:br>
            <a:endParaRPr lang="pt-BR" sz="2000" b="0" dirty="0">
              <a:solidFill>
                <a:schemeClr val="tx1"/>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21BEED9B-BC8C-1AC0-79FB-EE2096C3BEE9}"/>
              </a:ext>
            </a:extLst>
          </p:cNvPr>
          <p:cNvSpPr>
            <a:spLocks noGrp="1"/>
          </p:cNvSpPr>
          <p:nvPr>
            <p:ph type="subTitle" idx="1"/>
          </p:nvPr>
        </p:nvSpPr>
        <p:spPr>
          <a:xfrm>
            <a:off x="8388424" y="6021288"/>
            <a:ext cx="77832"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2689325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378C7-6BE1-6D20-8122-74D5293760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3A8566-BB54-163A-F0C6-F081F0B0A41F}"/>
              </a:ext>
            </a:extLst>
          </p:cNvPr>
          <p:cNvSpPr>
            <a:spLocks noGrp="1"/>
          </p:cNvSpPr>
          <p:nvPr>
            <p:ph type="ctrTitle"/>
          </p:nvPr>
        </p:nvSpPr>
        <p:spPr>
          <a:xfrm>
            <a:off x="899592" y="764704"/>
            <a:ext cx="7566664" cy="5040560"/>
          </a:xfrm>
        </p:spPr>
        <p:txBody>
          <a:bodyPr>
            <a:normAutofit fontScale="90000"/>
            <a:scene3d>
              <a:camera prst="orthographicFront"/>
              <a:lightRig rig="freezing" dir="t">
                <a:rot lat="0" lon="0" rev="5640000"/>
              </a:lightRig>
            </a:scene3d>
            <a:sp3d prstMaterial="flat">
              <a:contourClr>
                <a:schemeClr val="tx2"/>
              </a:contourClr>
            </a:sp3d>
          </a:bodyPr>
          <a:lstStyle/>
          <a:p>
            <a:pPr algn="l"/>
            <a:r>
              <a:rPr lang="pt-BR" sz="2000" dirty="0">
                <a:solidFill>
                  <a:srgbClr val="FFC000"/>
                </a:solidFill>
                <a:effectLst/>
                <a:latin typeface="Palatino Linotype" panose="02040502050505030304" pitchFamily="18" charset="0"/>
              </a:rPr>
              <a:t>III. ORAÇÃO DA MEMÓRIA DO SENHOR</a:t>
            </a:r>
            <a:br>
              <a:rPr lang="pt-BR" sz="2000" dirty="0">
                <a:solidFill>
                  <a:schemeClr val="tx1">
                    <a:lumMod val="95000"/>
                  </a:schemeClr>
                </a:solidFill>
                <a:effectLst/>
                <a:latin typeface="Palatino Linotype" panose="02040502050505030304" pitchFamily="18" charset="0"/>
              </a:rPr>
            </a:br>
            <a:r>
              <a:rPr lang="pt-BR" sz="2000" dirty="0">
                <a:solidFill>
                  <a:schemeClr val="tx1">
                    <a:lumMod val="95000"/>
                  </a:schemeClr>
                </a:solidFill>
                <a:effectLst/>
                <a:latin typeface="Palatino Linotype" panose="02040502050505030304" pitchFamily="18" charset="0"/>
              </a:rPr>
              <a:t> </a:t>
            </a:r>
            <a:br>
              <a:rPr lang="pt-BR" sz="2000" dirty="0">
                <a:solidFill>
                  <a:schemeClr val="tx1">
                    <a:lumMod val="95000"/>
                  </a:schemeClr>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MEMÓRIA: </a:t>
            </a:r>
            <a:br>
              <a:rPr lang="pt-BR" sz="2000" dirty="0">
                <a:solidFill>
                  <a:schemeClr val="tx1">
                    <a:lumMod val="95000"/>
                  </a:schemeClr>
                </a:solidFill>
                <a:effectLst/>
                <a:latin typeface="Palatino Linotype" panose="02040502050505030304" pitchFamily="18" charset="0"/>
              </a:rPr>
            </a:br>
            <a:r>
              <a:rPr lang="pt-BR" sz="2000" dirty="0">
                <a:solidFill>
                  <a:schemeClr val="tx1">
                    <a:lumMod val="95000"/>
                  </a:schemeClr>
                </a:solidFill>
                <a:effectLst/>
                <a:latin typeface="Palatino Linotype" panose="02040502050505030304" pitchFamily="18" charset="0"/>
              </a:rPr>
              <a:t>presente do passado, presente do futuro.</a:t>
            </a:r>
            <a:br>
              <a:rPr lang="pt-BR" sz="2000" dirty="0">
                <a:solidFill>
                  <a:schemeClr val="tx1">
                    <a:lumMod val="95000"/>
                  </a:schemeClr>
                </a:solidFill>
                <a:effectLst/>
                <a:latin typeface="Palatino Linotype" panose="02040502050505030304" pitchFamily="18" charset="0"/>
              </a:rPr>
            </a:br>
            <a:r>
              <a:rPr lang="pt-BR" sz="2000" dirty="0">
                <a:solidFill>
                  <a:schemeClr val="tx1">
                    <a:lumMod val="95000"/>
                  </a:schemeClr>
                </a:solidFill>
                <a:effectLst/>
                <a:latin typeface="Palatino Linotype" panose="02040502050505030304" pitchFamily="18" charset="0"/>
              </a:rPr>
              <a:t> </a:t>
            </a:r>
            <a:br>
              <a:rPr lang="pt-BR" sz="2000" dirty="0">
                <a:solidFill>
                  <a:schemeClr val="tx1">
                    <a:lumMod val="95000"/>
                  </a:schemeClr>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ZIKARON: </a:t>
            </a:r>
            <a:br>
              <a:rPr lang="pt-BR" sz="2000" dirty="0">
                <a:solidFill>
                  <a:schemeClr val="tx1">
                    <a:lumMod val="95000"/>
                  </a:schemeClr>
                </a:solidFill>
                <a:effectLst/>
                <a:latin typeface="Palatino Linotype" panose="02040502050505030304" pitchFamily="18" charset="0"/>
              </a:rPr>
            </a:br>
            <a:r>
              <a:rPr lang="pt-BR" sz="2000" dirty="0">
                <a:solidFill>
                  <a:schemeClr val="tx1">
                    <a:lumMod val="95000"/>
                  </a:schemeClr>
                </a:solidFill>
                <a:effectLst/>
                <a:latin typeface="Palatino Linotype" panose="02040502050505030304" pitchFamily="18" charset="0"/>
              </a:rPr>
              <a:t>graça de participação na memoria que Deus tem: Ele tem tudo presente, nEle tudo permanece.</a:t>
            </a:r>
            <a:br>
              <a:rPr lang="pt-BR" sz="2000" dirty="0">
                <a:solidFill>
                  <a:schemeClr val="tx1">
                    <a:lumMod val="95000"/>
                  </a:schemeClr>
                </a:solidFill>
                <a:effectLst/>
                <a:latin typeface="Palatino Linotype" panose="02040502050505030304" pitchFamily="18" charset="0"/>
              </a:rPr>
            </a:br>
            <a:r>
              <a:rPr lang="pt-BR" sz="2000" dirty="0">
                <a:solidFill>
                  <a:schemeClr val="tx1">
                    <a:lumMod val="95000"/>
                  </a:schemeClr>
                </a:solidFill>
                <a:effectLst/>
                <a:latin typeface="Palatino Linotype" panose="02040502050505030304" pitchFamily="18" charset="0"/>
              </a:rPr>
              <a:t> </a:t>
            </a:r>
            <a:br>
              <a:rPr lang="pt-BR" sz="2000" dirty="0">
                <a:solidFill>
                  <a:schemeClr val="tx1">
                    <a:lumMod val="95000"/>
                  </a:schemeClr>
                </a:solidFill>
                <a:effectLst/>
                <a:latin typeface="Palatino Linotype" panose="02040502050505030304" pitchFamily="18" charset="0"/>
              </a:rPr>
            </a:br>
            <a:r>
              <a:rPr lang="pt-BR" sz="2000" dirty="0">
                <a:solidFill>
                  <a:schemeClr val="tx1">
                    <a:lumMod val="95000"/>
                  </a:schemeClr>
                </a:solidFill>
                <a:effectLst/>
                <a:latin typeface="Palatino Linotype" panose="02040502050505030304" pitchFamily="18" charset="0"/>
              </a:rPr>
              <a:t>Pedir a graça do acompanhamento do Paráclito para fazer memória.</a:t>
            </a:r>
            <a:br>
              <a:rPr lang="pt-BR" sz="2000" dirty="0">
                <a:solidFill>
                  <a:schemeClr val="tx1">
                    <a:lumMod val="95000"/>
                  </a:schemeClr>
                </a:solidFill>
                <a:effectLst/>
                <a:latin typeface="Palatino Linotype" panose="02040502050505030304" pitchFamily="18" charset="0"/>
              </a:rPr>
            </a:br>
            <a:r>
              <a:rPr lang="pt-BR" sz="2000" dirty="0">
                <a:solidFill>
                  <a:schemeClr val="tx1">
                    <a:lumMod val="95000"/>
                  </a:schemeClr>
                </a:solidFill>
                <a:effectLst/>
                <a:latin typeface="Palatino Linotype" panose="02040502050505030304" pitchFamily="18" charset="0"/>
              </a:rPr>
              <a:t> </a:t>
            </a:r>
            <a:br>
              <a:rPr lang="pt-BR" sz="2000" dirty="0">
                <a:solidFill>
                  <a:schemeClr val="tx1">
                    <a:lumMod val="95000"/>
                  </a:schemeClr>
                </a:solidFill>
                <a:effectLst/>
                <a:latin typeface="Palatino Linotype" panose="02040502050505030304" pitchFamily="18" charset="0"/>
              </a:rPr>
            </a:br>
            <a:r>
              <a:rPr lang="pt-BR" sz="2000" dirty="0">
                <a:solidFill>
                  <a:schemeClr val="tx1">
                    <a:lumMod val="95000"/>
                  </a:schemeClr>
                </a:solidFill>
                <a:effectLst/>
                <a:latin typeface="Palatino Linotype" panose="02040502050505030304" pitchFamily="18" charset="0"/>
              </a:rPr>
              <a:t>	</a:t>
            </a:r>
            <a:r>
              <a:rPr lang="pt-BR" sz="2000" dirty="0">
                <a:solidFill>
                  <a:srgbClr val="FFC000"/>
                </a:solidFill>
                <a:effectLst/>
                <a:latin typeface="Palatino Linotype" panose="02040502050505030304" pitchFamily="18" charset="0"/>
              </a:rPr>
              <a:t>Confessio laudis</a:t>
            </a:r>
            <a:br>
              <a:rPr lang="pt-BR" sz="2000" dirty="0">
                <a:solidFill>
                  <a:srgbClr val="FFC000"/>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	</a:t>
            </a:r>
            <a:r>
              <a:rPr lang="es-ES" sz="2000" dirty="0">
                <a:solidFill>
                  <a:srgbClr val="FFC000"/>
                </a:solidFill>
                <a:effectLst/>
                <a:latin typeface="Palatino Linotype" panose="02040502050505030304" pitchFamily="18" charset="0"/>
              </a:rPr>
              <a:t>Confessio vitae</a:t>
            </a:r>
            <a:br>
              <a:rPr lang="pt-BR" sz="2000" dirty="0">
                <a:solidFill>
                  <a:srgbClr val="FFC000"/>
                </a:solidFill>
                <a:effectLst/>
                <a:latin typeface="Palatino Linotype" panose="02040502050505030304" pitchFamily="18" charset="0"/>
              </a:rPr>
            </a:br>
            <a:r>
              <a:rPr lang="pt-BR" sz="2000" dirty="0">
                <a:solidFill>
                  <a:srgbClr val="FFC000"/>
                </a:solidFill>
                <a:effectLst/>
                <a:latin typeface="Palatino Linotype" panose="02040502050505030304" pitchFamily="18" charset="0"/>
              </a:rPr>
              <a:t>	</a:t>
            </a:r>
            <a:r>
              <a:rPr lang="es-ES" sz="2000" dirty="0">
                <a:solidFill>
                  <a:srgbClr val="FFC000"/>
                </a:solidFill>
                <a:effectLst/>
                <a:latin typeface="Palatino Linotype" panose="02040502050505030304" pitchFamily="18" charset="0"/>
              </a:rPr>
              <a:t>Confessio fidei</a:t>
            </a:r>
            <a:br>
              <a:rPr lang="pt-BR" sz="2000" dirty="0">
                <a:solidFill>
                  <a:schemeClr val="tx1">
                    <a:lumMod val="95000"/>
                  </a:schemeClr>
                </a:solidFill>
                <a:effectLst/>
                <a:latin typeface="Palatino Linotype" panose="02040502050505030304" pitchFamily="18" charset="0"/>
              </a:rPr>
            </a:br>
            <a:r>
              <a:rPr lang="es-ES" sz="2000" dirty="0">
                <a:solidFill>
                  <a:schemeClr val="tx1">
                    <a:lumMod val="95000"/>
                  </a:schemeClr>
                </a:solidFill>
                <a:effectLst/>
                <a:latin typeface="Palatino Linotype" panose="02040502050505030304" pitchFamily="18" charset="0"/>
              </a:rPr>
              <a:t> </a:t>
            </a:r>
            <a:br>
              <a:rPr lang="pt-BR" sz="2000" dirty="0">
                <a:solidFill>
                  <a:schemeClr val="tx1">
                    <a:lumMod val="95000"/>
                  </a:schemeClr>
                </a:solidFill>
                <a:effectLst/>
                <a:latin typeface="Palatino Linotype" panose="02040502050505030304" pitchFamily="18" charset="0"/>
              </a:rPr>
            </a:br>
            <a:r>
              <a:rPr lang="pt-BR" sz="2000" dirty="0">
                <a:solidFill>
                  <a:schemeClr val="tx1">
                    <a:lumMod val="95000"/>
                  </a:schemeClr>
                </a:solidFill>
                <a:effectLst/>
                <a:latin typeface="Palatino Linotype" panose="02040502050505030304" pitchFamily="18" charset="0"/>
              </a:rPr>
              <a:t>Anotar no diário espiritual.</a:t>
            </a:r>
            <a:br>
              <a:rPr lang="pt-BR" sz="2000" dirty="0">
                <a:solidFill>
                  <a:schemeClr val="tx1">
                    <a:lumMod val="95000"/>
                  </a:schemeClr>
                </a:solidFill>
                <a:effectLst/>
                <a:latin typeface="Palatino Linotype" panose="02040502050505030304" pitchFamily="18" charset="0"/>
              </a:rPr>
            </a:br>
            <a:r>
              <a:rPr lang="pt-BR" sz="2000" dirty="0">
                <a:solidFill>
                  <a:schemeClr val="tx1">
                    <a:lumMod val="95000"/>
                  </a:schemeClr>
                </a:solidFill>
                <a:effectLst/>
                <a:latin typeface="Palatino Linotype" panose="02040502050505030304" pitchFamily="18" charset="0"/>
              </a:rPr>
              <a:t>Pedir a graça da sinergia do Paráclito.</a:t>
            </a:r>
            <a:br>
              <a:rPr lang="pt-BR" sz="1600" dirty="0">
                <a:solidFill>
                  <a:schemeClr val="tx1">
                    <a:lumMod val="95000"/>
                  </a:schemeClr>
                </a:solidFill>
                <a:effectLst/>
                <a:latin typeface="Palatino Linotype" panose="02040502050505030304" pitchFamily="18" charset="0"/>
              </a:rPr>
            </a:br>
            <a:endParaRPr lang="pt-BR" sz="1600" dirty="0">
              <a:solidFill>
                <a:schemeClr val="tx1">
                  <a:lumMod val="95000"/>
                </a:schemeClr>
              </a:solidFill>
              <a:latin typeface="Palatino Linotype" panose="02040502050505030304" pitchFamily="18" charset="0"/>
            </a:endParaRPr>
          </a:p>
        </p:txBody>
      </p:sp>
      <p:sp>
        <p:nvSpPr>
          <p:cNvPr id="3" name="Subtítulo 2">
            <a:extLst>
              <a:ext uri="{FF2B5EF4-FFF2-40B4-BE49-F238E27FC236}">
                <a16:creationId xmlns:a16="http://schemas.microsoft.com/office/drawing/2014/main" id="{657BA66A-7815-1328-889A-82CCE63FCBE9}"/>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195083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6759D-665E-6E46-EAD3-04D38FD8AB57}"/>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9FFAD7E7-5BA1-3F0B-33DC-ABB7771AA917}"/>
              </a:ext>
            </a:extLst>
          </p:cNvPr>
          <p:cNvPicPr>
            <a:picLocks noChangeAspect="1"/>
          </p:cNvPicPr>
          <p:nvPr/>
        </p:nvPicPr>
        <p:blipFill>
          <a:blip r:embed="rId2"/>
          <a:stretch>
            <a:fillRect/>
          </a:stretch>
        </p:blipFill>
        <p:spPr>
          <a:xfrm>
            <a:off x="971600" y="1916832"/>
            <a:ext cx="3429000" cy="3429000"/>
          </a:xfrm>
          <a:prstGeom prst="rect">
            <a:avLst/>
          </a:prstGeom>
        </p:spPr>
      </p:pic>
      <p:pic>
        <p:nvPicPr>
          <p:cNvPr id="5" name="Imagem 4">
            <a:extLst>
              <a:ext uri="{FF2B5EF4-FFF2-40B4-BE49-F238E27FC236}">
                <a16:creationId xmlns:a16="http://schemas.microsoft.com/office/drawing/2014/main" id="{043062AA-B1EC-F6A0-06B7-75CD12825BC1}"/>
              </a:ext>
            </a:extLst>
          </p:cNvPr>
          <p:cNvPicPr>
            <a:picLocks noChangeAspect="1"/>
          </p:cNvPicPr>
          <p:nvPr/>
        </p:nvPicPr>
        <p:blipFill>
          <a:blip r:embed="rId3"/>
          <a:stretch>
            <a:fillRect/>
          </a:stretch>
        </p:blipFill>
        <p:spPr>
          <a:xfrm>
            <a:off x="4394561" y="1168115"/>
            <a:ext cx="3950713" cy="4926434"/>
          </a:xfrm>
          <a:prstGeom prst="rect">
            <a:avLst/>
          </a:prstGeom>
        </p:spPr>
      </p:pic>
    </p:spTree>
    <p:extLst>
      <p:ext uri="{BB962C8B-B14F-4D97-AF65-F5344CB8AC3E}">
        <p14:creationId xmlns:p14="http://schemas.microsoft.com/office/powerpoint/2010/main" val="3118271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91FA4-2082-E6B4-49E8-BC2183F687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A9794AF-B11A-C54D-C2D7-E64483E65E17}"/>
              </a:ext>
            </a:extLst>
          </p:cNvPr>
          <p:cNvSpPr>
            <a:spLocks noGrp="1"/>
          </p:cNvSpPr>
          <p:nvPr>
            <p:ph type="ctrTitle"/>
          </p:nvPr>
        </p:nvSpPr>
        <p:spPr>
          <a:xfrm>
            <a:off x="3419872" y="1556792"/>
            <a:ext cx="4035224" cy="3384376"/>
          </a:xfrm>
        </p:spPr>
        <p:txBody>
          <a:bodyPr/>
          <a:lstStyle/>
          <a:p>
            <a:endParaRPr lang="pt-BR" dirty="0">
              <a:solidFill>
                <a:srgbClr val="FFC000"/>
              </a:solidFill>
              <a:latin typeface="Tempus Sans ITC" pitchFamily="82" charset="0"/>
            </a:endParaRPr>
          </a:p>
        </p:txBody>
      </p:sp>
      <p:sp>
        <p:nvSpPr>
          <p:cNvPr id="3" name="Subtítulo 2">
            <a:extLst>
              <a:ext uri="{FF2B5EF4-FFF2-40B4-BE49-F238E27FC236}">
                <a16:creationId xmlns:a16="http://schemas.microsoft.com/office/drawing/2014/main" id="{C3FDCBED-59CA-46D2-D87D-BD2603061EA2}"/>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849072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D7B2D-899F-BD83-0AA1-5B1A10F75DC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C1A3C56-4B61-D30D-7635-1F18F698194C}"/>
              </a:ext>
            </a:extLst>
          </p:cNvPr>
          <p:cNvSpPr>
            <a:spLocks noGrp="1"/>
          </p:cNvSpPr>
          <p:nvPr>
            <p:ph type="ctrTitle"/>
          </p:nvPr>
        </p:nvSpPr>
        <p:spPr>
          <a:xfrm>
            <a:off x="3419872" y="1556792"/>
            <a:ext cx="4035224" cy="3384376"/>
          </a:xfrm>
        </p:spPr>
        <p:txBody>
          <a:bodyPr/>
          <a:lstStyle/>
          <a:p>
            <a:endParaRPr lang="pt-BR" dirty="0">
              <a:solidFill>
                <a:srgbClr val="FFC000"/>
              </a:solidFill>
              <a:latin typeface="Tempus Sans ITC" pitchFamily="82" charset="0"/>
            </a:endParaRPr>
          </a:p>
        </p:txBody>
      </p:sp>
      <p:sp>
        <p:nvSpPr>
          <p:cNvPr id="3" name="Subtítulo 2">
            <a:extLst>
              <a:ext uri="{FF2B5EF4-FFF2-40B4-BE49-F238E27FC236}">
                <a16:creationId xmlns:a16="http://schemas.microsoft.com/office/drawing/2014/main" id="{EA1C912F-54BF-BB62-1006-7CDF1AB83A9D}"/>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1816264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A4711-B5B6-BCD5-7903-28A38D55BA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A8D844-24E6-96FF-454F-CF23AA680D52}"/>
              </a:ext>
            </a:extLst>
          </p:cNvPr>
          <p:cNvSpPr>
            <a:spLocks noGrp="1"/>
          </p:cNvSpPr>
          <p:nvPr>
            <p:ph type="ctrTitle"/>
          </p:nvPr>
        </p:nvSpPr>
        <p:spPr>
          <a:xfrm>
            <a:off x="3419872" y="1556792"/>
            <a:ext cx="4035224" cy="3384376"/>
          </a:xfrm>
        </p:spPr>
        <p:txBody>
          <a:bodyPr/>
          <a:lstStyle/>
          <a:p>
            <a:endParaRPr lang="pt-BR" dirty="0">
              <a:solidFill>
                <a:srgbClr val="FFC000"/>
              </a:solidFill>
              <a:latin typeface="Tempus Sans ITC" pitchFamily="82" charset="0"/>
            </a:endParaRPr>
          </a:p>
        </p:txBody>
      </p:sp>
      <p:sp>
        <p:nvSpPr>
          <p:cNvPr id="3" name="Subtítulo 2">
            <a:extLst>
              <a:ext uri="{FF2B5EF4-FFF2-40B4-BE49-F238E27FC236}">
                <a16:creationId xmlns:a16="http://schemas.microsoft.com/office/drawing/2014/main" id="{FBE4C38E-B472-76DA-7E1F-98C9886F456F}"/>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1351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36B52-BCA1-227A-EEF2-2249A8381EE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6367A7-2F81-2ED4-AF3A-158717B7ACCF}"/>
              </a:ext>
            </a:extLst>
          </p:cNvPr>
          <p:cNvSpPr>
            <a:spLocks noGrp="1"/>
          </p:cNvSpPr>
          <p:nvPr>
            <p:ph type="ctrTitle"/>
          </p:nvPr>
        </p:nvSpPr>
        <p:spPr>
          <a:xfrm>
            <a:off x="3419872" y="1556792"/>
            <a:ext cx="4035224" cy="3384376"/>
          </a:xfrm>
        </p:spPr>
        <p:txBody>
          <a:bodyPr/>
          <a:lstStyle/>
          <a:p>
            <a:endParaRPr lang="pt-BR" dirty="0">
              <a:solidFill>
                <a:srgbClr val="FFC000"/>
              </a:solidFill>
              <a:latin typeface="Tempus Sans ITC" pitchFamily="82" charset="0"/>
            </a:endParaRPr>
          </a:p>
        </p:txBody>
      </p:sp>
      <p:sp>
        <p:nvSpPr>
          <p:cNvPr id="3" name="Subtítulo 2">
            <a:extLst>
              <a:ext uri="{FF2B5EF4-FFF2-40B4-BE49-F238E27FC236}">
                <a16:creationId xmlns:a16="http://schemas.microsoft.com/office/drawing/2014/main" id="{41C2033D-DEDF-CD24-6DAA-3A5E4972411D}"/>
              </a:ext>
            </a:extLst>
          </p:cNvPr>
          <p:cNvSpPr>
            <a:spLocks noGrp="1"/>
          </p:cNvSpPr>
          <p:nvPr>
            <p:ph type="subTitle" idx="1"/>
          </p:nvPr>
        </p:nvSpPr>
        <p:spPr>
          <a:xfrm>
            <a:off x="611560" y="6021288"/>
            <a:ext cx="7854696" cy="528464"/>
          </a:xfrm>
        </p:spPr>
        <p:txBody>
          <a:bodyPr>
            <a:normAutofit fontScale="85000" lnSpcReduction="20000"/>
          </a:bodyPr>
          <a:lstStyle/>
          <a:p>
            <a:endParaRPr lang="pt-BR" sz="4000" dirty="0">
              <a:solidFill>
                <a:srgbClr val="FFC000"/>
              </a:solidFill>
              <a:effectLst>
                <a:outerShdw blurRad="38100" dist="38100" dir="2700000" algn="tl">
                  <a:srgbClr val="000000">
                    <a:alpha val="43137"/>
                  </a:srgbClr>
                </a:outerShdw>
              </a:effectLst>
              <a:latin typeface="Segoe UI Symbol" pitchFamily="34" charset="0"/>
              <a:ea typeface="Segoe UI Symbol" pitchFamily="34" charset="0"/>
            </a:endParaRPr>
          </a:p>
        </p:txBody>
      </p:sp>
    </p:spTree>
    <p:extLst>
      <p:ext uri="{BB962C8B-B14F-4D97-AF65-F5344CB8AC3E}">
        <p14:creationId xmlns:p14="http://schemas.microsoft.com/office/powerpoint/2010/main" val="39422241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uxo">
  <a:themeElements>
    <a:clrScheme name="Fluxo">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uxo">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uxo">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949</TotalTime>
  <Words>2729</Words>
  <Application>Microsoft Office PowerPoint</Application>
  <PresentationFormat>Apresentação na tela (4:3)</PresentationFormat>
  <Paragraphs>19</Paragraphs>
  <Slides>25</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25</vt:i4>
      </vt:variant>
    </vt:vector>
  </HeadingPairs>
  <TitlesOfParts>
    <vt:vector size="32" baseType="lpstr">
      <vt:lpstr>Calibri</vt:lpstr>
      <vt:lpstr>Constantia</vt:lpstr>
      <vt:lpstr>Palatino Linotype</vt:lpstr>
      <vt:lpstr>Segoe UI Symbol</vt:lpstr>
      <vt:lpstr>Tempus Sans ITC</vt:lpstr>
      <vt:lpstr>Wingdings 2</vt:lpstr>
      <vt:lpstr>Fluxo</vt:lpstr>
      <vt:lpstr>O PRINCÍPIO DE TRANSCENDÊNCIA  NA FORMAÇÃO</vt:lpstr>
      <vt:lpstr>     Por que este tema?   O princípio de transcendência é vital para que a vocação do seminarista nasça do encontro pessoal com Cristo, que oferece um rumo decisivo e um novo horizonte.   Ele sustenta a formação integral ao harmonizar as dimensões humana e espiritual  para uma configuração autêntica com o Bom Pastor.    </vt:lpstr>
      <vt:lpstr>Apresentação do PowerPoint</vt:lpstr>
      <vt:lpstr>EVIDENCIAR E APROFUNDAR o PdT:   Que é este principio ? Qual é sua dinâmica ?   Participar melhor da própria dinâmica formativa,  pois ela é SINÉRGICA:   2 energias, 2 operações/atividades,   2 pessoas, o ESPÍRITO e a pessoa humana,  em relação pessoal (em um Corpo Eclesial !).   ALTERIDADE  </vt:lpstr>
      <vt:lpstr>A SINERGIA DO ESPÍRITO CONOSCO visa que  “o Espírito nos introduza na verdade completa” (Jo 16,13),  a mesma relação filial que Jesus tem com Pai, configurando-nos com Ele Bom Pastor. </vt:lpstr>
      <vt:lpstr>IMPORTANCIA DE TRATAR SOBRE O PdT   Por que este tema?  Esse tema educa para escolhas conscientes, permitindo uma resposta livre e cheia de sentido ao chamado divino cotidiano. Garante, assim, a maturidade para que o futuro presbítero seja sinal e instrumento da graça de Deus no mundo. Pela transcendência, supera-se o individualismo e o ativismo, focando na doação de si e na unidade interior com o Senhor.  Esse tema educa  EDUCERE (lat.: ex- sair / ducere guiar): GUIAR PARA FORA: sair do individualismo e auto perfeição.  para escolhas conscientes  DISCERNIMENTO / 3 MODOS DE ELEIÇÃO. permitindo  CONDIÇÃO DE POSSIBILIDADE . uma resposta livre  LIBERDADE PARA O AMOR (Gal 5,13).  e cheia de sentido  ORDO / PLANO DE VIDA QUE EXPRESSE UM ITINERÁRIO. ao chamado divino cotidiano  O SENHOR-QUE-CHAMA / VONTADE DE DEUS NO COTIDIANO.  Garante, assim, a maturidade  EPEKTASIS (Flp 3,13) / DINAMICA DE FORMAÇÃO CONTINUA-PERMANENTE. para que o futuro presbítero seja sinal e instrumento da graça de Deus  SERVIDOR DE UMA ATIVIDADE DIVINA QUE VISA DIVINIZAR (santificar / 2Pe 1,4). no mundo  CLERO DIOCESANO/SECULAR: no século, tempo e espaço (não só na sacristia e presbitério).</vt:lpstr>
      <vt:lpstr>O parágrafo acrescenta:   Pela transcendência, supera-se o individualismo  ALTERIDADE  e o ativismo  O PROBLEMA DO ATIVISMO: atividade sem reflexão, i.é, atividade por rotina, moda, mero costume, impulso, emoção, que sutilmente nascem do eu, sem que o Senhor tenha uma presença central e consistente na própria historia e personalidade -até porque Ele é muitas vezes uma ideia, mais o menos abstrata-: por conseguinte, uma atividade que abrange camadas mais periféricas ou superficiais da própria existência, por conseguinte, uma atividade com baixa liberdade (porque não se é consciente de tudo o que essa atividade envolve) e baixo compromisso e participação pessoal (“que adianta ao homem ganhar o mundo inteiro, se perde a própria alma? ...se não envolve o próprio coração? Mc 8,36).  focando na doação de si  COM O SENHOR E COMO ELE (terceiro grau de humildade, sto Inácio de Loyola).  e na unidade interior com o Senhor  UNO E INTEGRADO (Jo 17,21) / CATÓLICO: navegar buscando a unidade-de-tudo (ligação de tudo).  </vt:lpstr>
      <vt:lpstr>SUPERFICIALIDADE É UMA AMEAÇA PERMANENTE       Pensamentos: Divertimento (Blaise Pascal)       Eichmann em Jerusalém (Hannah Arendt)   Esquecimento, Apotegmas dos Padres do deserto    “O olvido é a raiz de todos os males” (63).   “Três poderes de Satanás precedem todos os pecados:   o primeiro é o olvido, o segundo é a negligencia,   o terceiro é a cobiça.   De fato, do olvido nasce a negligencia,   da negligencia nasce a cobiça,   e esta faz o homem cair.” (273).    Esquecimento  de onde eu venho,    quem eu sou, para que eu estou aqui,    para onde eu vou. </vt:lpstr>
      <vt:lpstr>ESCLARECER ALGUNS TERMOS:   PRINCÍPIO ἀρχῇ (Jo 1,1 e Gen 1,1): referencia a uma pré-existência e, sobretudo, a uma supra existência. uma presença permanente. Heb 12,1: Cristo é o Iniciador [ἀρχηγὸν] e aperfeiçoador [τελειωτὴν] da fé.  Jesus Cristo é o PRINCÍPIO ativo  estar/viver “EM CRISTO” .  REFERENCIA CONTINUA AO PRINCÍPIO,  PARA “EM CRISTO”:    VER,     DISCERNIR    AGIR,   segundo a vontade do Pai, com desapego e disponibilidade, na realidade cotidiana.    </vt:lpstr>
      <vt:lpstr>ESCLARECER ALGUNS TERMOS:  TRASCENDÊNCIA Transcendência: derivada do verbo transcendere (lat.).  É a união de trans- (através, além de) e scandere ( significa subir, escalar). Literalmente: subir além, passar por cima, ultrapassar limites.  “A humanização de Deus e a deificação do ser humano são eventos correlativos. [...] Decifra-se a verdade do ser humano, falando não apenas de Deus ou apenas do homem, mas do Deus-Homem”  (Paul Evdokimov, Le Christ dans la pensée russe).   Teologia na economia. Kairós se realiza NO kronos (não em paralelo a ele; é por isso que, embora não sejamos do mundo, somos enviados ao mundo, Jo 17,14-18).  ALTERIDADE </vt:lpstr>
      <vt:lpstr>I. LUZ TABÓRICA   Transfiguração do Senhor:   ORÍGENES (s. III):  Olha, não foi simplesmente dito “se transfigurou”; Mateus e Marcos acrescentam um detalhe significativo, ambos dizem: “se transfigurou diante deles” (Mt 17,2; Mc 9,2). E você poderia dizer que Jesus se transfigurou diante de alguns e não diante de outros. Mas se você quiser ver a Transfiguração de Jesus que ocorreu diante daqueles que subiram a montanha com Ele, saiba que nos Evangelhos você encontra um Jesus conhecido, pode-se dizer, segundo a carne, por aqueles que não sobem a montanha através de seus milagres e sermões, e um Jesus conhecido teologicamente, através de todos os Evangelhos,  e visto, por meio de seu conhecimento [da teologia dos Evangelhos, i.é, o Espírito com o qual foram escritos], em forma divina; diante destes, Jesus se transfigura, não diante daqueles que estão aos pés da montanha, lá embaixo. Depois que seu rosto transfigurado se tornará como o sol, revelar-se-á aos filhos da luz, que se despojaram das obras das trevas e vestiram as armas da luz (Rom 13,12) e não serão mais filhos das trevas e da noite, mas do dia (1Tes 5,5) e caminharão no esplendor do dia (1Tes 4,12),  então ele se manifestará aos olhos deles, não apenas como sol, mas como o sol da justiça (Rom 13,13). Comentário ao evangelho de Mateo, 12,37. </vt:lpstr>
      <vt:lpstr>SÃO PEDRO O VENERÁVEL (s. XII) comenta: “o rosto dEle brilhou como o sol” (Mt 17,2): Este Sol não se ocultará mais para ti, ele te oferece uma manhã eternamente serena. Este Sol não estará mais coberto de nuvens, mas sempre brilhando te ilumina com uma luz incessante. Este Sol não te cega, mas te ajuda a enxergar, ele te invade com esplendor divino. Este Sol não conhece eclipse, porque seu brilho não é interrompido por nenhum dos teus sofrimentos; pois "não haverá mais morte, nem luto, nem tristeza, nem choro" que possa obscurecer o esplendor que Deus tem te dado. […] Esta é a tua luz eterna, que vem da face do Senhor.  Sermão 1  SÃO GREGÓRIO PALAMAS (1296-1359)  “Cristo foi transfigurado, não pela adição de algo que Ele não era, nem por uma transformação em algo que Ele não era, mas pela manifestação aos Seus discípulos do que Ele realmente era. Ele abriu os olhos deles para que, em vez de estarem cegos, pudessem ver.” Homilia 34.  </vt:lpstr>
      <vt:lpstr>Por tanto:  O Espírito transfigura nossos sentidos e inteligência. Sentidos espirituais e inteligência espiritual para ver a realidade, e o mais verdadeiro da realidade: REALIORA:  O termo deriva da expressão latina "a realibus ad realiora”: ir do real em direção ao que é mais real, (V. Ivanov)  (cf. Pavel Florensky, Coluna e fundamento da verdade).   Transcendência pelo Material:  A ideia sugere que o mundo material (realia) não é negativo, mas um trampolim para reconhecer e contemplar o mais real, as verdades eternas e divinas (realiora).   Teologia do Ícone   Liturgia </vt:lpstr>
      <vt:lpstr>CONHECIMENTO ESPIRITUAL  A acolhida e cultivo (“mútuo habituar-se”) dessa Luz é a verdadeira théosis (divinização), alcançada pela operação do Espírito Santo.  1Cor 2,10ss: “Deus nos revelou tudo isto [a sua Sabedoria e a sua Obra] pelo seu Espírito, porque o Espírito penetra tudo, mesmo as profundezas de Deus. Ninguém conhece as coisas de Deus, senão o Espírito de Deus. Nós não conhecemos o espírito do mundo, mas sim o Espírito que vem de Deus, para conhecer as coisas que Deus gratuitamente nos deu. Dessas coisas nós falamos numa linguagem que nos foi ensinada não pela sabedoria humana, mas pelo Espírito, que junta as coisas espirituais das espirituais. Mas o homem psíquico não aceita as coisas do Espírito de Deus, pois para ele são necedade. Nem as pode compreender, porque é pelo Espírito que se devem discernir. O homem espiritual [pneumatikós], ao contrário, discerne todas as coisas... Nós temos a mente de Cristo.” </vt:lpstr>
      <vt:lpstr>Sal 139/138 :  “Yhwh, vós me perscrutais e conheceis... plasmastes as entranhas do meu corpo... nada de minha substancia vos é oculto... Ó Deus, como são insondáveis para mim vossos desígnios... Vede se ando na senda do mal, e conduzi-me pelo caminho da eternidade.”    Desse conhecimento podemos participar:    Sal 36/35,10:  “em vós está a fonte da vida, e é na vossa luz que vemos a luz.” </vt:lpstr>
      <vt:lpstr>Porque a realidade é simbólico – sacramental:    Rom 8,28: “Deus coordena toda sua atividade / Deus intervém em tudo para o bem dos que lhe amam, dos que são chamados segundo seu desígnio.”     Em cada situação/experiência, perguntar ao Senhor:   Quem es tu, Senhor? / Que me diz o Senhor dEle mesmo?  Que me diz o Senhor de mim mesmo?  Qual o caminho que me mostra?  </vt:lpstr>
      <vt:lpstr>II. CONTEMPLATIVO NA AÇÃO   Homem espiritual no meio do mundo   Reconhecer a parte no todo, e toda a Obra nas particularidades.   Ver Deus e sua atividade em todas as coisas e ver todas as coisas, atividades e relações em Deus.   Esta atitude orante, como expressão do orar constantemente.   Junto com a consolação, é condição para o discernimento e para decidir.</vt:lpstr>
      <vt:lpstr>Esta atitude orante se concreta em 4 perspetivas:   1. Recordar que tudo é dom e graça de Deus. Fazer memória dos benefícios recebidos de Deus.  1Tes 5,18: “Em tudo, dai graças, porque esta é a vontade de Deus em Cristo Jesus para convosco.” 1Cor 15,10: “Pela graça de Deus, sou o que sou, e a sua graça para comigo não foi inútil.”   2. Ver como Deus habita na sua criação e nos faz templo do seu Espírito.  At 17,24-28: “Deus, que fez o mundo e tudo o que nele há, sendo o Senhor do céu e da terra, não habita em templos feitos pelos homens, nem é servido pelas mãos dos homens, como se necessitasse de alguma coisa, ele que dá a todos a vida, a respiração e todas as coisas. De um só homem fez sair todo o gênero humano, para que habitasse sobre toda a face da terra, fixando aos povos a ordem dos tempos e os limites da sua habitação, para que busquem a Deus e o encontrem como que às apalpadelas, embora ele não esteja longe de cada um de nós, porque nele vivemos, nos movemos e existimos.” 1Cor 6,15ss: “Não sabeis que os vossos corpos são membros de Cristo? Não sabeis que o que se junta com uma prostituta, torna-se um mesmo corpo com ela? Porque foi dito: Serão os dois uma só carne. Ao contrário, o que está unido ao Senhor é um só espírito com ele.” </vt:lpstr>
      <vt:lpstr>3. Considerar como Deus sempre trabalha, e obra para nós na historia e na criação. Considerar a ação vivificante do Espírito: Paráclito, Consolador, Memória viva de Jesus, Mestre e intérprete do Libro da criação e da história e do Libro da Sagrada Escritura, Força relacional e  de testemunho.  Jo 5,17: “Meu Pai não cessa de obrar até hoje, e eu obro também. ”Rom 8,28: “Deus coordena toda sua atividade / Deus intervém em tudo para o bem dos que lhe amam, dos que são chamados segundo seu desígnio.” Cinco passagens sobre o Espírito em Jo 14 – 16.    4. Observar como todos os bens e dons descendem de Deus e Ele se deixa reconhecer em seus dons. Toda a criação é o sacramento de Deus e de sua atividade.  Tg 1,16s: “Toda a dádiva excelente, todo o dom perfeito vem do alto e desce do Pai que criou os astros do céu. Por sua vontade nos gerou pela palavra da verdade, a fim de que sejamos como que as primícias das suas criaturas.” </vt:lpstr>
      <vt:lpstr>III. ORAÇÃO DA MEMÓRIA DO SENHOR   MEMÓRIA:  presente do passado, presente do futuro.   ZIKARON:  graça de participação na memoria que Deus tem: Ele tem tudo presente, nEle tudo permanece.   Pedir a graça do acompanhamento do Paráclito para fazer memória.    Confessio laudis  Confessio vitae  Confessio fidei   Anotar no diário espiritual. Pedir a graça da sinergia do Paráclito. </vt:lpstr>
      <vt:lpstr>Apresentação do PowerPoint</vt:lpstr>
      <vt:lpstr>Apresentação do PowerPoint</vt:lpstr>
      <vt:lpstr>Apresentação do PowerPoint</vt:lpstr>
      <vt:lpstr>Apresentação do PowerPoint</vt:lpstr>
      <vt:lpstr>Apresentação do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ATIVIDADE sem BUSSOLA</dc:title>
  <dc:creator>hector scv</dc:creator>
  <cp:lastModifiedBy>Matheus Botelho</cp:lastModifiedBy>
  <cp:revision>25</cp:revision>
  <dcterms:created xsi:type="dcterms:W3CDTF">2012-10-09T15:36:37Z</dcterms:created>
  <dcterms:modified xsi:type="dcterms:W3CDTF">2026-06-15T11:29:04Z</dcterms:modified>
</cp:coreProperties>
</file>