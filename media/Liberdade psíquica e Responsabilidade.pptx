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Fraunces Bold" charset="1" panose="00000000000000000000"/>
      <p:regular r:id="rId22"/>
    </p:embeddedFont>
    <p:embeddedFont>
      <p:font typeface="Aileron Bold" charset="1" panose="00000800000000000000"/>
      <p:regular r:id="rId23"/>
    </p:embeddedFont>
    <p:embeddedFont>
      <p:font typeface="Aileron" charset="1" panose="00000500000000000000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A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3114675"/>
            <a:ext cx="167640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98"/>
              </a:lnSpc>
              <a:spcBef>
                <a:spcPct val="0"/>
              </a:spcBef>
            </a:pPr>
            <a:r>
              <a:rPr lang="en-US" b="true" sz="6570" strike="noStrike" u="none">
                <a:solidFill>
                  <a:srgbClr val="2C3E50"/>
                </a:solidFill>
                <a:latin typeface="Fraunces Bold"/>
                <a:ea typeface="Fraunces Bold"/>
                <a:cs typeface="Fraunces Bold"/>
                <a:sym typeface="Fraunces Bold"/>
              </a:rPr>
              <a:t>VIII SEMANA DE FORMAÇÃO HUMANA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B899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71625" y="4829175"/>
            <a:ext cx="1514475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2C3E50"/>
                </a:solidFill>
                <a:latin typeface="Aileron Bold"/>
                <a:ea typeface="Aileron Bold"/>
                <a:cs typeface="Aileron Bold"/>
                <a:sym typeface="Aileron Bold"/>
              </a:rPr>
              <a:t>Liberdade psíquica e Responsabilidade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9053" y="9182100"/>
            <a:ext cx="1159192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5A6B7A"/>
                </a:solidFill>
                <a:latin typeface="Aileron"/>
                <a:ea typeface="Aileron"/>
                <a:cs typeface="Aileron"/>
                <a:sym typeface="Aileron"/>
              </a:rPr>
              <a:t>Seminário Nossa Senhora do Amor Divino - Petrópolis - RJ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A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43588" y="1724025"/>
            <a:ext cx="3810000" cy="0"/>
          </a:xfrm>
          <a:prstGeom prst="line">
            <a:avLst/>
          </a:prstGeom>
          <a:ln cap="flat" w="19050">
            <a:solidFill>
              <a:srgbClr val="B899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0" y="3949699"/>
            <a:ext cx="18288000" cy="11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2C3E50"/>
                </a:solidFill>
                <a:latin typeface="Aileron Bold"/>
                <a:ea typeface="Aileron Bold"/>
                <a:cs typeface="Aileron Bold"/>
                <a:sym typeface="Aileron Bold"/>
              </a:rPr>
              <a:t>Somos livres?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39824" y="-190500"/>
            <a:ext cx="8239125" cy="1708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2C3E50"/>
                </a:solidFill>
                <a:latin typeface="Fraunces Bold"/>
                <a:ea typeface="Fraunces Bold"/>
                <a:cs typeface="Fraunces Bold"/>
                <a:sym typeface="Fraunces Bold"/>
              </a:rPr>
              <a:t>Sou livre?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A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B899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076825" y="-247650"/>
            <a:ext cx="8134350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2C3E50"/>
                </a:solidFill>
                <a:latin typeface="Fraunces Bold"/>
                <a:ea typeface="Fraunces Bold"/>
                <a:cs typeface="Fraunces Bold"/>
                <a:sym typeface="Fraunces Bold"/>
              </a:rPr>
              <a:t>Sou livre?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8412" y="3256915"/>
            <a:ext cx="13211175" cy="45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C3E50"/>
                </a:solidFill>
                <a:latin typeface="Aileron Bold"/>
                <a:ea typeface="Aileron Bold"/>
                <a:cs typeface="Aileron Bold"/>
                <a:sym typeface="Aileron Bold"/>
              </a:rPr>
              <a:t>Inconsciente - vieses cognitivos, Esquemas emocionais.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C3E50"/>
                </a:solidFill>
                <a:latin typeface="Aileron Bold"/>
                <a:ea typeface="Aileron Bold"/>
                <a:cs typeface="Aileron Bold"/>
                <a:sym typeface="Aileron Bold"/>
              </a:rPr>
              <a:t>Cultura, sociedade.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C3E50"/>
                </a:solidFill>
                <a:latin typeface="Aileron Bold"/>
                <a:ea typeface="Aileron Bold"/>
                <a:cs typeface="Aileron Bold"/>
                <a:sym typeface="Aileron Bold"/>
              </a:rPr>
              <a:t>Genética.</a:t>
            </a:r>
          </a:p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2C3E50"/>
                </a:solidFill>
                <a:latin typeface="Aileron Bold"/>
                <a:ea typeface="Aileron Bold"/>
                <a:cs typeface="Aileron Bold"/>
                <a:sym typeface="Aileron Bold"/>
              </a:rPr>
              <a:t>Comportamentos (vícios)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D8DC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B899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948644" y="4536392"/>
            <a:ext cx="4390712" cy="5369608"/>
          </a:xfrm>
          <a:custGeom>
            <a:avLst/>
            <a:gdLst/>
            <a:ahLst/>
            <a:cxnLst/>
            <a:rect r="r" b="b" t="t" l="l"/>
            <a:pathLst>
              <a:path h="5369608" w="4390712">
                <a:moveTo>
                  <a:pt x="0" y="0"/>
                </a:moveTo>
                <a:lnTo>
                  <a:pt x="4390712" y="0"/>
                </a:lnTo>
                <a:lnTo>
                  <a:pt x="4390712" y="5369608"/>
                </a:lnTo>
                <a:lnTo>
                  <a:pt x="0" y="5369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7" t="0" r="-19924" b="-709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2486856"/>
            <a:ext cx="182880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 proposta desde a perspectiva de Viktor Emil Frankl.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574556" y="3244047"/>
            <a:ext cx="913888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resposta de Viktor Frankl: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 “liberdade de”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 “liberdade para”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0821" y="3003550"/>
            <a:ext cx="12906357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“Afinal, a liberdade da vontade significa a liberdade da vontade humana e esta é a vontade de um ser finito. O homem não é livre de suas contingências mas, sim, livre para tomar uma atitude diante de quaisquer que sejam as condições que sejam apresentadas a ele.” (Viktor Emil Frankl)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0821" y="3003550"/>
            <a:ext cx="12906357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Diante disso, abrimos uma porta importante para o autoconhecimento. O exercício da liberdade anda de mão dadas com o conhecer-me a mim mesmo.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Pensamento - Emoções - Comportamento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0821" y="3003550"/>
            <a:ext cx="12906357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Conhecer os meus pensamentos: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penso sobre mim.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Sobre os outros.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Sobre o mundo.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Sobre Deus.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0821" y="3003550"/>
            <a:ext cx="12906357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Conhecer as minhas emoções: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Tomar contato com minhas emoções, nomeá-las, expressá-las, não me esquivar delas.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Emoções se manifestam no corpo, por isso é importante aprofundar na consciência física.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0821" y="3003550"/>
            <a:ext cx="12906357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Conhecer os meus comportamentos: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Compreender meus padrões de ação.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situações que são gatilhos para determinados comportamentos.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 estratégias comportamentais que utilizo: por exemplo, procrastinação.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3850" y="2298700"/>
            <a:ext cx="16500301" cy="631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Esse processo de autoconhecimento pode nos ajudar a: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Romper com dependências comportamentais e emocionais.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Conhecer padrões de pensamentos que estão associados a adoecimento mental (depressão e ansiedade)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Enriquecer nossa experiência emocional, ampliando o conhecimento das emoções e também a suas matizes.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Enriquecer nossa capacidade de autorregulação.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0184" y="-171450"/>
            <a:ext cx="15567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é essa tal liberdade?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0821" y="3003550"/>
            <a:ext cx="12906357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 “liberdade para”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Para onde me movo?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Conhecer minhas verdadeiras motivações.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Qual o sentido concreto da minha vida? O sentido é uma resposta a realidade em que estamos inseridos.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373461" y="-171450"/>
            <a:ext cx="1154107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RESPONSABILIDADE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0821" y="3003550"/>
            <a:ext cx="12906357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irmã da liberdade: a responsabilidade.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 homem significa ser responsável (Viktor Emil Frankl)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 responsável. Assumir a responsabilidade é uma das principais marcas da pessoa madura.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373461" y="-171450"/>
            <a:ext cx="1154107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RESPONSABILIDADE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0220" y="2490788"/>
            <a:ext cx="16087561" cy="637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</a:t>
            </a: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responsabilidade tem algo de temível e de sublime: temível, porque, a cada instante, arco com a responsabilidade pelo momento seguinte, pois todas as decisões são para toda a eternidade, já que a cada momento realizo ou desperdiço a possibilidade única que a vida me apresenta, e sublime, pois o meu futuro e o da sociedade de certa forma, depende da decisão que eu tomo a cada instante”. (p. 66)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373461" y="-171450"/>
            <a:ext cx="1154107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RESPONSABILIDADE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0220" y="2490788"/>
            <a:ext cx="16087561" cy="557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 responsável implica, portanto, tomar consciência da minha unicidade e irreptibilidade. </a:t>
            </a:r>
          </a:p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Tomar consciência da relacionalidade que marca a natureza humana. Entender que nenhum homem é uma ilha.</a:t>
            </a:r>
          </a:p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Crescer no conhecimento próprio.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Não se furtar a se aventurar na existência.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0"/>
            <a:chOff x="0" y="0"/>
            <a:chExt cx="24384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06000"/>
            <a:ext cx="18288000" cy="381000"/>
            <a:chOff x="0" y="0"/>
            <a:chExt cx="2438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CFE0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cap="flat" w="19050">
            <a:solidFill>
              <a:srgbClr val="3A6E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373461" y="-171450"/>
            <a:ext cx="1154107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RESPONSABILIDADE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0220" y="2490788"/>
            <a:ext cx="16087561" cy="637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"Ser homem é precisamente ser responsável. É experimentar vergonha diante de uma miséria que não parece depender de si. É ter orgulho de uma vitória dos companheiros. É sentir, ao colocar a própria pedra, que se contribui para a construção do mundo." (Antoine de Saint Exupery - Terra dos Homens)</a:t>
            </a:r>
          </a:p>
          <a:p>
            <a:pPr algn="ctr">
              <a:lnSpc>
                <a:spcPts val="6300"/>
              </a:lnSpc>
            </a:pPr>
          </a:p>
          <a:p>
            <a:pPr algn="ctr">
              <a:lnSpc>
                <a:spcPts val="63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DAHMuANHDKU</dc:identifier>
  <dcterms:modified xsi:type="dcterms:W3CDTF">2011-08-01T06:04:30Z</dcterms:modified>
  <cp:revision>1</cp:revision>
  <dc:title>Liberdade psíquica e Responsabilidade</dc:title>
</cp:coreProperties>
</file>