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9" r:id="rId14"/>
    <p:sldId id="268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7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sandrahansenformiga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21567" y="899887"/>
            <a:ext cx="8791575" cy="4760686"/>
          </a:xfrm>
        </p:spPr>
        <p:txBody>
          <a:bodyPr>
            <a:noAutofit/>
          </a:bodyPr>
          <a:lstStyle/>
          <a:p>
            <a:pPr algn="ctr"/>
            <a:r>
              <a:rPr lang="pt-BR" sz="6600" smtClean="0">
                <a:latin typeface="Arial Black" panose="020B0A04020102020204" pitchFamily="34" charset="0"/>
              </a:rPr>
              <a:t/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6600" smtClean="0">
                <a:latin typeface="Arial Black" panose="020B0A04020102020204" pitchFamily="34" charset="0"/>
              </a:rPr>
              <a:t/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6600" smtClean="0">
                <a:latin typeface="Arial Black" panose="020B0A04020102020204" pitchFamily="34" charset="0"/>
              </a:rPr>
              <a:t/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6600" smtClean="0">
                <a:latin typeface="Arial Black" panose="020B0A04020102020204" pitchFamily="34" charset="0"/>
              </a:rPr>
              <a:t/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6600" smtClean="0">
                <a:latin typeface="Arial Black" panose="020B0A04020102020204" pitchFamily="34" charset="0"/>
              </a:rPr>
              <a:t/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6600" smtClean="0">
                <a:latin typeface="Arial Black" panose="020B0A04020102020204" pitchFamily="34" charset="0"/>
              </a:rPr>
              <a:t/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2400" smtClean="0">
                <a:latin typeface="Arial Black" panose="020B0A04020102020204" pitchFamily="34" charset="0"/>
              </a:rPr>
              <a:t>SEMINÁRIO DIOCESANO DE PETRÓPOLIS</a:t>
            </a:r>
            <a:br>
              <a:rPr lang="pt-BR" sz="2400" smtClean="0">
                <a:latin typeface="Arial Black" panose="020B0A04020102020204" pitchFamily="34" charset="0"/>
              </a:rPr>
            </a:br>
            <a:r>
              <a:rPr lang="pt-BR" sz="6600" smtClean="0">
                <a:latin typeface="Arial Black" panose="020B0A04020102020204" pitchFamily="34" charset="0"/>
              </a:rPr>
              <a:t/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6600" smtClean="0">
                <a:latin typeface="Arial Black" panose="020B0A04020102020204" pitchFamily="34" charset="0"/>
              </a:rPr>
              <a:t>VIII SEMANA </a:t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6600" smtClean="0">
                <a:solidFill>
                  <a:schemeClr val="bg1"/>
                </a:solidFill>
                <a:latin typeface="Arial Black" panose="020B0A04020102020204" pitchFamily="34" charset="0"/>
              </a:rPr>
              <a:t>DE FORMAÇÃO </a:t>
            </a:r>
            <a:r>
              <a:rPr lang="pt-BR" sz="6600" smtClean="0">
                <a:latin typeface="Arial Black" panose="020B0A04020102020204" pitchFamily="34" charset="0"/>
              </a:rPr>
              <a:t/>
            </a:r>
            <a:br>
              <a:rPr lang="pt-BR" sz="6600" smtClean="0">
                <a:latin typeface="Arial Black" panose="020B0A04020102020204" pitchFamily="34" charset="0"/>
              </a:rPr>
            </a:br>
            <a:r>
              <a:rPr lang="pt-BR" sz="8800" b="1" smtClean="0">
                <a:latin typeface="Bahnschrift SemiBold" panose="020B0502040204020203" pitchFamily="34" charset="0"/>
              </a:rPr>
              <a:t>humana</a:t>
            </a:r>
            <a:br>
              <a:rPr lang="pt-BR" sz="8800" b="1" smtClean="0">
                <a:latin typeface="Bahnschrift SemiBold" panose="020B0502040204020203" pitchFamily="34" charset="0"/>
              </a:rPr>
            </a:br>
            <a:r>
              <a:rPr lang="pt-BR" sz="2400" b="1" smtClean="0">
                <a:latin typeface="Bahnschrift SemiBold" panose="020B0502040204020203" pitchFamily="34" charset="0"/>
              </a:rPr>
              <a:t>JUNHO - 2026</a:t>
            </a:r>
            <a:endParaRPr lang="pt-BR" sz="8800" b="1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46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1480457"/>
            <a:ext cx="9905999" cy="4310744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pt-BR" sz="6000" dirty="0" smtClean="0">
                <a:latin typeface="Baskerville Old Face" panose="02020602080505020303" pitchFamily="18" charset="0"/>
              </a:rPr>
              <a:t>DESENVOLVIMENTO E MATURIDADE DA PERSONALIDADE</a:t>
            </a:r>
          </a:p>
          <a:p>
            <a:pPr algn="ctr"/>
            <a:endParaRPr lang="pt-BR" sz="4000" dirty="0" smtClean="0">
              <a:latin typeface="Baskerville Old Face" panose="02020602080505020303" pitchFamily="18" charset="0"/>
            </a:endParaRPr>
          </a:p>
          <a:p>
            <a:pPr algn="ctr"/>
            <a:r>
              <a:rPr lang="pt-BR" sz="4000" dirty="0" smtClean="0">
                <a:latin typeface="Baskerville Old Face" panose="02020602080505020303" pitchFamily="18" charset="0"/>
              </a:rPr>
              <a:t>Sandra Hansen- Psicóloga</a:t>
            </a:r>
            <a:endParaRPr lang="pt-BR" sz="4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85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1377"/>
          </a:xfrm>
        </p:spPr>
        <p:txBody>
          <a:bodyPr>
            <a:normAutofit/>
          </a:bodyPr>
          <a:lstStyle/>
          <a:p>
            <a:pPr algn="ctr"/>
            <a:r>
              <a:rPr lang="pt-BR" sz="4000" dirty="0" smtClean="0">
                <a:latin typeface="Baskerville Old Face" panose="02020602080505020303" pitchFamily="18" charset="0"/>
              </a:rPr>
              <a:t>Quem sou eu , de verdade?</a:t>
            </a:r>
            <a:endParaRPr lang="pt-BR" sz="4000" dirty="0">
              <a:latin typeface="Baskerville Old Face" panose="02020602080505020303" pitchFamily="18" charset="0"/>
            </a:endParaRPr>
          </a:p>
        </p:txBody>
      </p:sp>
      <p:pic>
        <p:nvPicPr>
          <p:cNvPr id="4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4128" y="1789510"/>
            <a:ext cx="4020454" cy="360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eta para a Direita 6"/>
          <p:cNvSpPr/>
          <p:nvPr/>
        </p:nvSpPr>
        <p:spPr>
          <a:xfrm rot="20057437" flipV="1">
            <a:off x="7898829" y="1935498"/>
            <a:ext cx="986971" cy="377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a Direita 7"/>
          <p:cNvSpPr/>
          <p:nvPr/>
        </p:nvSpPr>
        <p:spPr>
          <a:xfrm rot="9269764" flipV="1">
            <a:off x="3108937" y="5185926"/>
            <a:ext cx="986971" cy="377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a Direita 8"/>
          <p:cNvSpPr/>
          <p:nvPr/>
        </p:nvSpPr>
        <p:spPr>
          <a:xfrm rot="10550940" flipV="1">
            <a:off x="3022381" y="3291173"/>
            <a:ext cx="986971" cy="377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Direita 9"/>
          <p:cNvSpPr/>
          <p:nvPr/>
        </p:nvSpPr>
        <p:spPr>
          <a:xfrm rot="11996858" flipV="1">
            <a:off x="3031932" y="2048734"/>
            <a:ext cx="986971" cy="377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a Direita 10"/>
          <p:cNvSpPr/>
          <p:nvPr/>
        </p:nvSpPr>
        <p:spPr>
          <a:xfrm flipV="1">
            <a:off x="7999127" y="3429000"/>
            <a:ext cx="986971" cy="377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 para a Direita 11"/>
          <p:cNvSpPr/>
          <p:nvPr/>
        </p:nvSpPr>
        <p:spPr>
          <a:xfrm rot="1793363" flipV="1">
            <a:off x="7999126" y="4982596"/>
            <a:ext cx="986971" cy="377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 rot="11721191" flipV="1">
            <a:off x="701326" y="1910235"/>
            <a:ext cx="59710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que </a:t>
            </a:r>
            <a:r>
              <a:rPr lang="pt-BR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faço e </a:t>
            </a:r>
          </a:p>
          <a:p>
            <a:r>
              <a:rPr lang="pt-BR" sz="2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pt-BR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roduzo ?</a:t>
            </a:r>
            <a:endParaRPr lang="pt-BR" sz="2800" dirty="0"/>
          </a:p>
        </p:txBody>
      </p:sp>
      <p:sp>
        <p:nvSpPr>
          <p:cNvPr id="14" name="Retângulo 13"/>
          <p:cNvSpPr/>
          <p:nvPr/>
        </p:nvSpPr>
        <p:spPr>
          <a:xfrm rot="20155402">
            <a:off x="8591286" y="1117476"/>
            <a:ext cx="33873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sz="2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que o outro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pensa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espera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mim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tângulo 14"/>
          <p:cNvSpPr/>
          <p:nvPr/>
        </p:nvSpPr>
        <p:spPr>
          <a:xfrm rot="9508151" flipV="1">
            <a:off x="8884901" y="2871720"/>
            <a:ext cx="29686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Papéis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desempenho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tângulo 15"/>
          <p:cNvSpPr/>
          <p:nvPr/>
        </p:nvSpPr>
        <p:spPr>
          <a:xfrm rot="20408840">
            <a:off x="8904285" y="4743214"/>
            <a:ext cx="3478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sz="2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Meus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sentimentos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tângulo 16"/>
          <p:cNvSpPr/>
          <p:nvPr/>
        </p:nvSpPr>
        <p:spPr>
          <a:xfrm rot="10800000" flipV="1">
            <a:off x="182880" y="3108960"/>
            <a:ext cx="3238878" cy="969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sz="2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Meu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comportamento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tângulo 17"/>
          <p:cNvSpPr/>
          <p:nvPr/>
        </p:nvSpPr>
        <p:spPr>
          <a:xfrm rot="20362545">
            <a:off x="457201" y="5240773"/>
            <a:ext cx="35569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sz="2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Meus </a:t>
            </a:r>
            <a:r>
              <a:rPr lang="en-US" sz="2800" dirty="0" err="1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erros</a:t>
            </a:r>
            <a:r>
              <a:rPr lang="en-US" sz="2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más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escolhas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Seta para a Direita 18"/>
          <p:cNvSpPr/>
          <p:nvPr/>
        </p:nvSpPr>
        <p:spPr>
          <a:xfrm rot="5400000" flipV="1">
            <a:off x="5750972" y="5516070"/>
            <a:ext cx="635611" cy="482649"/>
          </a:xfrm>
          <a:prstGeom prst="rightArrow">
            <a:avLst>
              <a:gd name="adj1" fmla="val 4024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4404361" y="5844486"/>
            <a:ext cx="36302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Minha</a:t>
            </a:r>
            <a:r>
              <a:rPr lang="en-US" sz="36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aparência</a:t>
            </a:r>
            <a:r>
              <a:rPr lang="en-US" sz="28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en-US" sz="36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pt-BR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20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err="1">
                <a:solidFill>
                  <a:schemeClr val="bg2"/>
                </a:solidFill>
                <a:latin typeface="Baskerville Old Face" panose="02020602080505020303" pitchFamily="18" charset="0"/>
              </a:rPr>
              <a:t>autenticidade</a:t>
            </a:r>
            <a:endParaRPr lang="pt-BR" sz="5400" dirty="0">
              <a:solidFill>
                <a:schemeClr val="bg2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655320" y="2249486"/>
            <a:ext cx="10392091" cy="4227513"/>
          </a:xfrm>
        </p:spPr>
        <p:txBody>
          <a:bodyPr>
            <a:normAutofit/>
          </a:bodyPr>
          <a:lstStyle/>
          <a:p>
            <a:pPr algn="ctr"/>
            <a:r>
              <a:rPr lang="pt-BR" sz="4800" dirty="0" smtClean="0"/>
              <a:t>É A COERÊNCIA ENTRE O QUE SE</a:t>
            </a:r>
            <a:endParaRPr lang="pt-BR" sz="4800" dirty="0">
              <a:solidFill>
                <a:schemeClr val="accent3">
                  <a:lumMod val="50000"/>
                </a:schemeClr>
              </a:solidFill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pt-BR" sz="7200" dirty="0" smtClean="0">
                <a:solidFill>
                  <a:schemeClr val="accent3">
                    <a:lumMod val="50000"/>
                  </a:schemeClr>
                </a:solidFill>
                <a:latin typeface="Century" panose="02040604050505020304" pitchFamily="18" charset="0"/>
              </a:rPr>
              <a:t>PENSA  PREGA  VIVE</a:t>
            </a:r>
            <a:r>
              <a:rPr lang="pt-BR" sz="7200" dirty="0" smtClean="0">
                <a:latin typeface="Century" panose="02040604050505020304" pitchFamily="18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422711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812804" y="522516"/>
            <a:ext cx="10755086" cy="5266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dirty="0" smtClean="0"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pt-BR" sz="4400" dirty="0" smtClean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Segundo </a:t>
            </a:r>
            <a:r>
              <a:rPr lang="pt-BR" sz="4400" dirty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Gordon </a:t>
            </a:r>
            <a:r>
              <a:rPr lang="pt-BR" sz="4400" dirty="0" err="1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Allport</a:t>
            </a:r>
            <a:r>
              <a:rPr lang="pt-BR" sz="4400" dirty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pt-BR" sz="4400" b="1" dirty="0" smtClean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Personalidade</a:t>
            </a:r>
            <a:r>
              <a:rPr lang="pt-BR" sz="4400" dirty="0" smtClean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dirty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 uma estrutura viva e em constante desenvolvimento, que integra aspectos biológicos, psicológicos e sociais, tornando cada pessoa única na forma de pensar, sentir e agir.</a:t>
            </a:r>
            <a:endParaRPr lang="pt-BR" sz="4000" dirty="0">
              <a:solidFill>
                <a:schemeClr val="bg1"/>
              </a:solidFill>
              <a:latin typeface="Baskerville Old Face" panose="020206020805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dirty="0" smtClean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 </a:t>
            </a:r>
            <a:r>
              <a:rPr lang="pt-BR" sz="4400" dirty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personalidade </a:t>
            </a:r>
            <a:r>
              <a:rPr lang="pt-BR" sz="4400" dirty="0" smtClean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 </a:t>
            </a:r>
            <a:r>
              <a:rPr lang="pt-BR" sz="4400" dirty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conjunto de traços que distinguem um indivíduo de todos os outros. </a:t>
            </a:r>
            <a:endParaRPr lang="pt-BR" sz="4000" dirty="0">
              <a:solidFill>
                <a:schemeClr val="bg1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58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733143" y="1094532"/>
            <a:ext cx="56170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pt-BR" sz="48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Basta possuir uma personalidade bem definida para ser uma pessoa madura?</a:t>
            </a: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Espaço Reservado para Conteúdo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57" y="696686"/>
            <a:ext cx="4601029" cy="555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4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51543" y="986968"/>
            <a:ext cx="10798628" cy="4169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600" dirty="0">
                <a:solidFill>
                  <a:schemeClr val="bg2">
                    <a:lumMod val="50000"/>
                  </a:schemeClr>
                </a:solidFill>
              </a:rPr>
              <a:t>Hoje, minhas escolhas estão me aproximando ou me afastando da pessoa que </a:t>
            </a:r>
            <a:r>
              <a:rPr lang="pt-BR" sz="6600" dirty="0" smtClean="0">
                <a:solidFill>
                  <a:schemeClr val="bg2">
                    <a:lumMod val="50000"/>
                  </a:schemeClr>
                </a:solidFill>
              </a:rPr>
              <a:t>desejo, </a:t>
            </a:r>
            <a:r>
              <a:rPr lang="pt-BR" sz="6600" dirty="0">
                <a:solidFill>
                  <a:schemeClr val="bg2">
                    <a:lumMod val="50000"/>
                  </a:schemeClr>
                </a:solidFill>
              </a:rPr>
              <a:t>e sou chamado a ser?</a:t>
            </a:r>
          </a:p>
        </p:txBody>
      </p:sp>
    </p:spTree>
    <p:extLst>
      <p:ext uri="{BB962C8B-B14F-4D97-AF65-F5344CB8AC3E}">
        <p14:creationId xmlns:p14="http://schemas.microsoft.com/office/powerpoint/2010/main" val="922864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117601" y="986973"/>
            <a:ext cx="10232572" cy="4723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0" b="1" dirty="0">
                <a:solidFill>
                  <a:srgbClr val="FFFF0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 personalidade é uma condição humana; amadurecer essa personalidade é uma tarefa para toda a vida.</a:t>
            </a:r>
            <a:endParaRPr lang="pt-BR" sz="6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44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262743" y="638632"/>
            <a:ext cx="9971314" cy="5661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7200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Gordon W.</a:t>
            </a:r>
            <a:r>
              <a:rPr lang="pt-BR" sz="7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7200" b="1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Allport</a:t>
            </a:r>
            <a:endParaRPr lang="pt-BR" sz="7200" b="1" dirty="0" smtClean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pt-BR" sz="7200" b="1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Amedeu</a:t>
            </a:r>
            <a:r>
              <a:rPr lang="pt-BR" sz="72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7200" b="1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Cencini</a:t>
            </a:r>
            <a:endParaRPr lang="pt-BR" sz="7200" b="1" dirty="0" smtClean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pt-BR" sz="72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Francisco </a:t>
            </a:r>
            <a:r>
              <a:rPr lang="pt-BR" sz="7200" b="1" dirty="0" err="1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Insa</a:t>
            </a:r>
            <a:endParaRPr lang="pt-BR" sz="7200" b="1" dirty="0" smtClean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pt-BR" sz="72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Wenceslau </a:t>
            </a:r>
            <a:r>
              <a:rPr lang="pt-BR" sz="7200" b="1" dirty="0" err="1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Vial</a:t>
            </a:r>
            <a:r>
              <a:rPr lang="pt-BR" sz="7200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pt-BR" sz="7200" b="1" dirty="0" smtClean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pt-BR" sz="72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Viktor </a:t>
            </a:r>
            <a:r>
              <a:rPr lang="pt-BR" sz="7200" b="1" dirty="0" err="1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Frankl</a:t>
            </a:r>
            <a:r>
              <a:rPr lang="pt-BR" sz="7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9876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6629" y="420919"/>
            <a:ext cx="9900782" cy="841828"/>
          </a:xfrm>
        </p:spPr>
        <p:txBody>
          <a:bodyPr/>
          <a:lstStyle/>
          <a:p>
            <a:r>
              <a:rPr lang="pt-BR" dirty="0" smtClean="0"/>
              <a:t>                   </a:t>
            </a:r>
            <a:r>
              <a:rPr lang="pt-BR" dirty="0" smtClean="0">
                <a:solidFill>
                  <a:schemeClr val="bg1"/>
                </a:solidFill>
              </a:rPr>
              <a:t>SINTESE DAS TEORIAS :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9315" y="1117604"/>
            <a:ext cx="11727542" cy="52251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pt-BR" dirty="0"/>
          </a:p>
          <a:p>
            <a:r>
              <a:rPr lang="pt-BR" sz="4000" dirty="0"/>
              <a:t>·  </a:t>
            </a:r>
            <a:r>
              <a:rPr lang="pt-BR" sz="4000" b="1" dirty="0" err="1">
                <a:solidFill>
                  <a:schemeClr val="bg1"/>
                </a:solidFill>
              </a:rPr>
              <a:t>Allport</a:t>
            </a:r>
            <a:r>
              <a:rPr lang="pt-BR" sz="4000" b="1" dirty="0"/>
              <a:t>:</a:t>
            </a:r>
            <a:r>
              <a:rPr lang="pt-BR" sz="4000" dirty="0"/>
              <a:t> </a:t>
            </a:r>
            <a:r>
              <a:rPr lang="pt-BR" sz="4000" dirty="0">
                <a:solidFill>
                  <a:schemeClr val="bg2">
                    <a:lumMod val="75000"/>
                  </a:schemeClr>
                </a:solidFill>
              </a:rPr>
              <a:t>maturidade como integração da </a:t>
            </a:r>
            <a:r>
              <a:rPr lang="pt-BR" sz="4000" dirty="0" smtClean="0">
                <a:solidFill>
                  <a:schemeClr val="bg2">
                    <a:lumMod val="75000"/>
                  </a:schemeClr>
                </a:solidFill>
              </a:rPr>
              <a:t>personalidade</a:t>
            </a:r>
            <a:r>
              <a:rPr lang="pt-BR" sz="4000" dirty="0"/>
              <a:t>. </a:t>
            </a:r>
          </a:p>
          <a:p>
            <a:r>
              <a:rPr lang="pt-BR" sz="4000" dirty="0"/>
              <a:t>·  </a:t>
            </a:r>
            <a:r>
              <a:rPr lang="pt-BR" sz="4000" b="1" dirty="0" err="1">
                <a:solidFill>
                  <a:schemeClr val="bg1"/>
                </a:solidFill>
              </a:rPr>
              <a:t>Cencini</a:t>
            </a:r>
            <a:r>
              <a:rPr lang="pt-BR" sz="4000" b="1" dirty="0"/>
              <a:t>:</a:t>
            </a:r>
            <a:r>
              <a:rPr lang="pt-BR" sz="4000" dirty="0"/>
              <a:t> </a:t>
            </a:r>
            <a:r>
              <a:rPr lang="pt-BR" sz="4000" dirty="0">
                <a:solidFill>
                  <a:schemeClr val="bg2">
                    <a:lumMod val="75000"/>
                  </a:schemeClr>
                </a:solidFill>
              </a:rPr>
              <a:t>maturidade como verdade sobre si mesmo</a:t>
            </a:r>
            <a:r>
              <a:rPr lang="pt-BR" sz="4000" dirty="0"/>
              <a:t>. </a:t>
            </a:r>
          </a:p>
          <a:p>
            <a:r>
              <a:rPr lang="pt-BR" sz="4000" dirty="0"/>
              <a:t>·  </a:t>
            </a:r>
            <a:r>
              <a:rPr lang="pt-BR" sz="4000" b="1" dirty="0" err="1">
                <a:solidFill>
                  <a:schemeClr val="bg1"/>
                </a:solidFill>
              </a:rPr>
              <a:t>Insa</a:t>
            </a:r>
            <a:r>
              <a:rPr lang="pt-BR" sz="4000" b="1" dirty="0"/>
              <a:t>:</a:t>
            </a:r>
            <a:r>
              <a:rPr lang="pt-BR" sz="4000" dirty="0"/>
              <a:t> </a:t>
            </a:r>
            <a:r>
              <a:rPr lang="pt-BR" sz="4000" dirty="0">
                <a:solidFill>
                  <a:schemeClr val="bg2">
                    <a:lumMod val="75000"/>
                  </a:schemeClr>
                </a:solidFill>
              </a:rPr>
              <a:t>maturidade como integração afetiva</a:t>
            </a:r>
            <a:r>
              <a:rPr lang="pt-BR" sz="4000" dirty="0"/>
              <a:t>. </a:t>
            </a:r>
          </a:p>
          <a:p>
            <a:r>
              <a:rPr lang="pt-BR" sz="4000" dirty="0"/>
              <a:t>·  </a:t>
            </a:r>
            <a:r>
              <a:rPr lang="pt-BR" sz="4000" b="1" dirty="0" err="1">
                <a:solidFill>
                  <a:schemeClr val="bg1"/>
                </a:solidFill>
              </a:rPr>
              <a:t>Vial</a:t>
            </a:r>
            <a:r>
              <a:rPr lang="pt-BR" sz="4000" b="1" dirty="0"/>
              <a:t>:</a:t>
            </a:r>
            <a:r>
              <a:rPr lang="pt-BR" sz="4000" dirty="0"/>
              <a:t> </a:t>
            </a:r>
            <a:r>
              <a:rPr lang="pt-BR" sz="4000" dirty="0">
                <a:solidFill>
                  <a:schemeClr val="bg2">
                    <a:lumMod val="75000"/>
                  </a:schemeClr>
                </a:solidFill>
              </a:rPr>
              <a:t>maturidade como unidade interior</a:t>
            </a:r>
            <a:r>
              <a:rPr lang="pt-BR" sz="4000" dirty="0"/>
              <a:t>. </a:t>
            </a:r>
          </a:p>
          <a:p>
            <a:r>
              <a:rPr lang="pt-BR" sz="4000" dirty="0"/>
              <a:t>·  </a:t>
            </a:r>
            <a:r>
              <a:rPr lang="pt-BR" sz="4000" b="1" dirty="0" err="1">
                <a:solidFill>
                  <a:schemeClr val="bg1"/>
                </a:solidFill>
              </a:rPr>
              <a:t>Frankl</a:t>
            </a:r>
            <a:r>
              <a:rPr lang="pt-BR" sz="4000" b="1" dirty="0"/>
              <a:t>:</a:t>
            </a:r>
            <a:r>
              <a:rPr lang="pt-BR" sz="4000" dirty="0"/>
              <a:t> </a:t>
            </a:r>
            <a:r>
              <a:rPr lang="pt-BR" sz="4000" dirty="0">
                <a:solidFill>
                  <a:schemeClr val="bg2">
                    <a:lumMod val="75000"/>
                  </a:schemeClr>
                </a:solidFill>
              </a:rPr>
              <a:t>maturidade como responsabilidade </a:t>
            </a:r>
            <a:endParaRPr lang="pt-BR" sz="4000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pt-BR" sz="4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pt-BR" sz="4000" dirty="0" smtClean="0">
                <a:solidFill>
                  <a:schemeClr val="bg2">
                    <a:lumMod val="75000"/>
                  </a:schemeClr>
                </a:solidFill>
              </a:rPr>
              <a:t>             diante </a:t>
            </a:r>
            <a:r>
              <a:rPr lang="pt-BR" sz="4000" dirty="0">
                <a:solidFill>
                  <a:schemeClr val="bg2">
                    <a:lumMod val="75000"/>
                  </a:schemeClr>
                </a:solidFill>
              </a:rPr>
              <a:t>do </a:t>
            </a:r>
            <a:r>
              <a:rPr lang="pt-BR" sz="4000" dirty="0" smtClean="0">
                <a:solidFill>
                  <a:schemeClr val="bg2">
                    <a:lumMod val="75000"/>
                  </a:schemeClr>
                </a:solidFill>
              </a:rPr>
              <a:t>sentido </a:t>
            </a:r>
            <a:r>
              <a:rPr lang="pt-BR" sz="4000" dirty="0">
                <a:solidFill>
                  <a:schemeClr val="bg2">
                    <a:lumMod val="75000"/>
                  </a:schemeClr>
                </a:solidFill>
              </a:rPr>
              <a:t>da vida.</a:t>
            </a:r>
          </a:p>
        </p:txBody>
      </p:sp>
    </p:spTree>
    <p:extLst>
      <p:ext uri="{BB962C8B-B14F-4D97-AF65-F5344CB8AC3E}">
        <p14:creationId xmlns:p14="http://schemas.microsoft.com/office/powerpoint/2010/main" val="38628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64457" y="967324"/>
            <a:ext cx="11727543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"A maturidade da personalidade é um processo 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contínuo de integração e humanização pelo qual a 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pessoa passa do egocentrismo para a abertura ao outro, 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da fragmentação para a unidade interior, 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da ilusão para a verdade sobre si mesma 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e da busca de satisfação imediata para uma vida orientada 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por valores e sentido.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Não é a ausência de conflitos que revela a maturidade,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 mas a capacidade de enfrentá-los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 com verdade, liberdade, </a:t>
            </a:r>
          </a:p>
          <a:p>
            <a:pPr algn="ctr"/>
            <a:r>
              <a:rPr lang="pt-BR" sz="2700" dirty="0" smtClean="0">
                <a:solidFill>
                  <a:schemeClr val="bg1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responsabilidade e amor."</a:t>
            </a:r>
            <a:endParaRPr lang="pt-BR" sz="27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0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4743" y="449953"/>
            <a:ext cx="10667999" cy="4804230"/>
          </a:xfrm>
        </p:spPr>
        <p:txBody>
          <a:bodyPr>
            <a:noAutofit/>
          </a:bodyPr>
          <a:lstStyle/>
          <a:p>
            <a:pPr lvl="0"/>
            <a:r>
              <a:rPr lang="pt-BR" sz="2800" dirty="0"/>
              <a:t>Quais </a:t>
            </a:r>
            <a:r>
              <a:rPr lang="pt-BR" sz="2800" dirty="0" smtClean="0"/>
              <a:t>aspectos e áreas  </a:t>
            </a:r>
            <a:r>
              <a:rPr lang="pt-BR" sz="2800" dirty="0"/>
              <a:t>da minha personalidade ainda resistem ao amadurecimento? </a:t>
            </a:r>
          </a:p>
          <a:p>
            <a:pPr lvl="0"/>
            <a:r>
              <a:rPr lang="pt-BR" sz="2800" dirty="0"/>
              <a:t>Em quais situações percebo uma distância entre aquilo que penso, prego e faço? </a:t>
            </a:r>
          </a:p>
          <a:p>
            <a:pPr lvl="0"/>
            <a:r>
              <a:rPr lang="pt-BR" sz="2800" dirty="0"/>
              <a:t>Que sofrimentos da minha história ainda precisam ser integrados e </a:t>
            </a:r>
            <a:r>
              <a:rPr lang="pt-BR" sz="2800" dirty="0" err="1"/>
              <a:t>ressignificados</a:t>
            </a:r>
            <a:r>
              <a:rPr lang="pt-BR" sz="2800" dirty="0"/>
              <a:t>? </a:t>
            </a:r>
          </a:p>
          <a:p>
            <a:pPr lvl="0"/>
            <a:r>
              <a:rPr lang="pt-BR" sz="2800" dirty="0"/>
              <a:t>Quais relacionamentos têm contribuído para meu crescimento humano e espiritual?  E quais tem me fragilizado?</a:t>
            </a:r>
          </a:p>
          <a:p>
            <a:pPr lvl="0"/>
            <a:r>
              <a:rPr lang="pt-BR" sz="2800" dirty="0"/>
              <a:t>O </a:t>
            </a:r>
            <a:r>
              <a:rPr lang="pt-BR" sz="2800" dirty="0" smtClean="0"/>
              <a:t>que preciso fazer , </a:t>
            </a:r>
            <a:r>
              <a:rPr lang="pt-BR" sz="2800" dirty="0"/>
              <a:t>concretamente</a:t>
            </a:r>
            <a:r>
              <a:rPr lang="pt-BR" sz="2800" dirty="0" smtClean="0"/>
              <a:t>, para </a:t>
            </a:r>
            <a:r>
              <a:rPr lang="pt-BR" sz="2800" dirty="0"/>
              <a:t>tornar-me uma versão mais verdadeira de mim mesmo?</a:t>
            </a:r>
            <a:r>
              <a:rPr lang="pt-B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545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67657" y="537030"/>
            <a:ext cx="109728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Que parte de </a:t>
            </a:r>
            <a:r>
              <a:rPr lang="en-US" sz="2800" dirty="0" err="1"/>
              <a:t>mim</a:t>
            </a:r>
            <a:r>
              <a:rPr lang="en-US" sz="2800" dirty="0"/>
              <a:t> </a:t>
            </a:r>
            <a:r>
              <a:rPr lang="en-US" sz="2800" dirty="0" err="1"/>
              <a:t>ainda</a:t>
            </a:r>
            <a:r>
              <a:rPr lang="en-US" sz="2800" dirty="0"/>
              <a:t> </a:t>
            </a:r>
            <a:r>
              <a:rPr lang="en-US" sz="2800" dirty="0" err="1"/>
              <a:t>precisa</a:t>
            </a:r>
            <a:r>
              <a:rPr lang="en-US" sz="2800" dirty="0"/>
              <a:t> </a:t>
            </a:r>
            <a:r>
              <a:rPr lang="en-US" sz="2800" dirty="0" err="1"/>
              <a:t>amadurecer</a:t>
            </a:r>
            <a:r>
              <a:rPr lang="en-US" sz="2800" dirty="0"/>
              <a:t>? </a:t>
            </a:r>
            <a:endParaRPr lang="en-US" sz="2800" dirty="0" smtClean="0"/>
          </a:p>
          <a:p>
            <a:pPr lvl="0"/>
            <a:endParaRPr lang="pt-BR" sz="2800" dirty="0"/>
          </a:p>
          <a:p>
            <a:pPr algn="just"/>
            <a:r>
              <a:rPr lang="en-US" sz="2800" dirty="0"/>
              <a:t>        </a:t>
            </a:r>
            <a:r>
              <a:rPr lang="en-US" sz="3000" dirty="0" err="1"/>
              <a:t>dificuldade</a:t>
            </a:r>
            <a:r>
              <a:rPr lang="en-US" sz="3000" dirty="0"/>
              <a:t> de </a:t>
            </a:r>
            <a:r>
              <a:rPr lang="en-US" sz="3000" dirty="0" err="1"/>
              <a:t>lidar</a:t>
            </a:r>
            <a:r>
              <a:rPr lang="en-US" sz="3000" dirty="0"/>
              <a:t> com </a:t>
            </a:r>
            <a:r>
              <a:rPr lang="en-US" sz="3000" dirty="0" err="1"/>
              <a:t>críticas</a:t>
            </a:r>
            <a:r>
              <a:rPr lang="en-US" sz="3000" dirty="0"/>
              <a:t>,  </a:t>
            </a:r>
            <a:r>
              <a:rPr lang="en-US" sz="3000" dirty="0" err="1"/>
              <a:t>medo</a:t>
            </a:r>
            <a:r>
              <a:rPr lang="en-US" sz="3000" dirty="0"/>
              <a:t> da </a:t>
            </a:r>
            <a:r>
              <a:rPr lang="en-US" sz="3000" dirty="0" err="1"/>
              <a:t>rejeição</a:t>
            </a:r>
            <a:r>
              <a:rPr lang="en-US" sz="3000" dirty="0"/>
              <a:t>, </a:t>
            </a:r>
            <a:endParaRPr lang="en-US" sz="3000" dirty="0" smtClean="0"/>
          </a:p>
          <a:p>
            <a:pPr algn="just"/>
            <a:r>
              <a:rPr lang="en-US" sz="3000" dirty="0"/>
              <a:t> </a:t>
            </a:r>
            <a:r>
              <a:rPr lang="en-US" sz="3000" dirty="0" smtClean="0"/>
              <a:t>       </a:t>
            </a:r>
            <a:r>
              <a:rPr lang="en-US" sz="3000" dirty="0" err="1" smtClean="0"/>
              <a:t>ressentimentos</a:t>
            </a:r>
            <a:r>
              <a:rPr lang="en-US" sz="3000" dirty="0" smtClean="0"/>
              <a:t>  </a:t>
            </a:r>
            <a:r>
              <a:rPr lang="en-US" sz="3000" dirty="0" err="1" smtClean="0"/>
              <a:t>antigos</a:t>
            </a:r>
            <a:r>
              <a:rPr lang="en-US" sz="3000" dirty="0" smtClean="0"/>
              <a:t>, </a:t>
            </a:r>
            <a:r>
              <a:rPr lang="en-US" sz="3000" dirty="0" err="1" smtClean="0"/>
              <a:t>dependências</a:t>
            </a:r>
            <a:r>
              <a:rPr lang="en-US" sz="3000" dirty="0" smtClean="0"/>
              <a:t> e </a:t>
            </a:r>
            <a:r>
              <a:rPr lang="en-US" sz="3000" dirty="0" err="1" smtClean="0"/>
              <a:t>apegos</a:t>
            </a:r>
            <a:r>
              <a:rPr lang="en-US" sz="3000" dirty="0" smtClean="0"/>
              <a:t>  </a:t>
            </a:r>
            <a:r>
              <a:rPr lang="en-US" sz="3000" dirty="0" err="1"/>
              <a:t>emocionais</a:t>
            </a:r>
            <a:r>
              <a:rPr lang="en-US" sz="3000" dirty="0"/>
              <a:t>, </a:t>
            </a:r>
            <a:endParaRPr lang="en-US" sz="3000" dirty="0" smtClean="0"/>
          </a:p>
          <a:p>
            <a:pPr algn="just"/>
            <a:r>
              <a:rPr lang="en-US" sz="3000" dirty="0"/>
              <a:t> </a:t>
            </a:r>
            <a:r>
              <a:rPr lang="en-US" sz="3000" dirty="0" smtClean="0"/>
              <a:t>      </a:t>
            </a:r>
            <a:r>
              <a:rPr lang="en-US" sz="3000" dirty="0" smtClean="0"/>
              <a:t> </a:t>
            </a:r>
            <a:r>
              <a:rPr lang="en-US" sz="3000" dirty="0" err="1"/>
              <a:t>excesso</a:t>
            </a:r>
            <a:r>
              <a:rPr lang="en-US" sz="3000" dirty="0"/>
              <a:t> de </a:t>
            </a:r>
            <a:r>
              <a:rPr lang="en-US" sz="3000" dirty="0" err="1"/>
              <a:t>controle</a:t>
            </a:r>
            <a:r>
              <a:rPr lang="en-US" sz="3000" dirty="0" smtClean="0"/>
              <a:t>,    </a:t>
            </a:r>
            <a:r>
              <a:rPr lang="en-US" sz="3000" dirty="0" err="1" smtClean="0"/>
              <a:t>dificuldade</a:t>
            </a:r>
            <a:r>
              <a:rPr lang="en-US" sz="3000" dirty="0" smtClean="0"/>
              <a:t> </a:t>
            </a:r>
            <a:r>
              <a:rPr lang="en-US" sz="3000" dirty="0" smtClean="0"/>
              <a:t>de </a:t>
            </a:r>
            <a:r>
              <a:rPr lang="en-US" sz="3000" dirty="0" err="1"/>
              <a:t>confiar</a:t>
            </a:r>
            <a:r>
              <a:rPr lang="en-US" sz="3000" dirty="0"/>
              <a:t>, </a:t>
            </a:r>
            <a:endParaRPr lang="en-US" sz="3000" dirty="0" smtClean="0"/>
          </a:p>
          <a:p>
            <a:pPr algn="just"/>
            <a:r>
              <a:rPr lang="en-US" sz="3000" dirty="0"/>
              <a:t> </a:t>
            </a:r>
            <a:r>
              <a:rPr lang="en-US" sz="3000" dirty="0" smtClean="0"/>
              <a:t>       </a:t>
            </a:r>
            <a:r>
              <a:rPr lang="en-US" sz="3000" dirty="0" err="1" smtClean="0"/>
              <a:t>autoritarismo</a:t>
            </a:r>
            <a:r>
              <a:rPr lang="en-US" sz="3000" dirty="0" smtClean="0"/>
              <a:t>, </a:t>
            </a:r>
            <a:r>
              <a:rPr lang="en-US" sz="3000" dirty="0" err="1" smtClean="0"/>
              <a:t>arrogância</a:t>
            </a:r>
            <a:r>
              <a:rPr lang="en-US" sz="3000" dirty="0" smtClean="0"/>
              <a:t>, o </a:t>
            </a:r>
            <a:r>
              <a:rPr lang="en-US" sz="3000" dirty="0" err="1"/>
              <a:t>afastamento</a:t>
            </a:r>
            <a:r>
              <a:rPr lang="en-US" sz="3000" dirty="0"/>
              <a:t> de </a:t>
            </a:r>
            <a:r>
              <a:rPr lang="en-US" sz="3000" dirty="0" smtClean="0"/>
              <a:t> </a:t>
            </a:r>
          </a:p>
          <a:p>
            <a:pPr algn="just"/>
            <a:r>
              <a:rPr lang="en-US" sz="3000" dirty="0"/>
              <a:t> </a:t>
            </a:r>
            <a:r>
              <a:rPr lang="en-US" sz="3000" dirty="0" smtClean="0"/>
              <a:t>       </a:t>
            </a:r>
            <a:r>
              <a:rPr lang="en-US" sz="3000" dirty="0" err="1" smtClean="0"/>
              <a:t>mim</a:t>
            </a:r>
            <a:r>
              <a:rPr lang="en-US" sz="3000" dirty="0" smtClean="0"/>
              <a:t>  </a:t>
            </a:r>
            <a:r>
              <a:rPr lang="en-US" sz="3000" dirty="0" err="1" smtClean="0"/>
              <a:t>mesmo</a:t>
            </a:r>
            <a:r>
              <a:rPr lang="en-US" sz="3000" dirty="0" smtClean="0"/>
              <a:t>…</a:t>
            </a:r>
            <a:endParaRPr lang="pt-BR" sz="3200" dirty="0" smtClean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r>
              <a:rPr lang="pt-BR" sz="3600" dirty="0" smtClean="0">
                <a:solidFill>
                  <a:srgbClr val="FFFC1E"/>
                </a:solidFill>
              </a:rPr>
              <a:t>“O importante não é o que fizeram de nós , mas o que fazemos com o que fizeram de nós”</a:t>
            </a:r>
          </a:p>
          <a:p>
            <a:pPr algn="ctr"/>
            <a:r>
              <a:rPr lang="pt-BR" sz="3200" dirty="0"/>
              <a:t> </a:t>
            </a:r>
            <a:r>
              <a:rPr lang="pt-BR" sz="3200" dirty="0" smtClean="0"/>
              <a:t>                                                           Sartre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15387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33714" y="-188681"/>
            <a:ext cx="9813696" cy="1443956"/>
          </a:xfrm>
        </p:spPr>
        <p:txBody>
          <a:bodyPr/>
          <a:lstStyle/>
          <a:p>
            <a:pPr algn="ctr"/>
            <a:r>
              <a:rPr lang="pt-BR" dirty="0" smtClean="0"/>
              <a:t>BIBLIOGRAFIA</a:t>
            </a:r>
            <a:endParaRPr lang="pt-BR" dirty="0"/>
          </a:p>
        </p:txBody>
      </p:sp>
      <p:pic>
        <p:nvPicPr>
          <p:cNvPr id="10" name="Espaço Reservado para Conteúdo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229" y="972457"/>
            <a:ext cx="7910285" cy="5885543"/>
          </a:xfrm>
        </p:spPr>
      </p:pic>
    </p:spTree>
    <p:extLst>
      <p:ext uri="{BB962C8B-B14F-4D97-AF65-F5344CB8AC3E}">
        <p14:creationId xmlns:p14="http://schemas.microsoft.com/office/powerpoint/2010/main" val="235105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59542" y="1190173"/>
            <a:ext cx="10305143" cy="361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1500" dirty="0">
                <a:ln w="0"/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rush Script MT" panose="03060802040406070304" pitchFamily="66" charset="0"/>
              </a:rPr>
              <a:t>Muito obrigada !</a:t>
            </a:r>
            <a:r>
              <a:rPr lang="pt-BR" sz="11500" dirty="0">
                <a:solidFill>
                  <a:srgbClr val="FFFF00"/>
                </a:solidFill>
                <a:latin typeface="Brush Script MT" panose="03060802040406070304" pitchFamily="66" charset="0"/>
              </a:rPr>
              <a:t/>
            </a:r>
            <a:br>
              <a:rPr lang="pt-BR" sz="11500" dirty="0">
                <a:solidFill>
                  <a:srgbClr val="FFFF00"/>
                </a:solidFill>
                <a:latin typeface="Brush Script MT" panose="03060802040406070304" pitchFamily="66" charset="0"/>
              </a:rPr>
            </a:br>
            <a:r>
              <a:rPr lang="pt-BR" sz="60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  <a:hlinkClick r:id="rId2"/>
              </a:rPr>
              <a:t>sandrahansenformiga@gmail.com</a:t>
            </a:r>
            <a:r>
              <a:rPr lang="pt-BR" sz="72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rush Script MT" panose="03060802040406070304" pitchFamily="66" charset="0"/>
              </a:rPr>
              <a:t/>
            </a:r>
            <a:br>
              <a:rPr lang="pt-BR" sz="72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rush Script MT" panose="03060802040406070304" pitchFamily="66" charset="0"/>
              </a:rPr>
            </a:br>
            <a:r>
              <a:rPr lang="pt-BR" sz="5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</a:rPr>
              <a:t>(24)992251522</a:t>
            </a:r>
            <a:endParaRPr lang="pt-BR" sz="6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13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477</TotalTime>
  <Words>465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7" baseType="lpstr">
      <vt:lpstr>Arial</vt:lpstr>
      <vt:lpstr>Arial Black</vt:lpstr>
      <vt:lpstr>Bahnschrift SemiBold</vt:lpstr>
      <vt:lpstr>Baskerville Old Face</vt:lpstr>
      <vt:lpstr>Bookman Old Style</vt:lpstr>
      <vt:lpstr>Brush Script MT</vt:lpstr>
      <vt:lpstr>Calibri</vt:lpstr>
      <vt:lpstr>Century</vt:lpstr>
      <vt:lpstr>Times New Roman</vt:lpstr>
      <vt:lpstr>Trebuchet MS</vt:lpstr>
      <vt:lpstr>Tw Cen MT</vt:lpstr>
      <vt:lpstr>Circuito</vt:lpstr>
      <vt:lpstr>      SEMINÁRIO DIOCESANO DE PETRÓPOLIS  VIII SEMANA  DE FORMAÇÃO  humana JUNHO - 2026</vt:lpstr>
      <vt:lpstr>Apresentação do PowerPoint</vt:lpstr>
      <vt:lpstr>Quem sou eu , de verdade?</vt:lpstr>
      <vt:lpstr>autenticidade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                 SINTESE DAS TEORIAS :</vt:lpstr>
      <vt:lpstr>Apresentação do PowerPoint</vt:lpstr>
      <vt:lpstr>Apresentação do PowerPoint</vt:lpstr>
      <vt:lpstr>Apresentação do PowerPoint</vt:lpstr>
      <vt:lpstr>BIBLIOGRAFIA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SEMINÁRIO DIOCESANO DE PETRÓPOLIS  VIII SEMANA  DE FORMAÇÃO  humana JUNHO - 2026</dc:title>
  <dc:creator>Sandra Hansen</dc:creator>
  <cp:lastModifiedBy>Sandra Hansen</cp:lastModifiedBy>
  <cp:revision>29</cp:revision>
  <dcterms:created xsi:type="dcterms:W3CDTF">2026-06-15T00:36:03Z</dcterms:created>
  <dcterms:modified xsi:type="dcterms:W3CDTF">2026-06-16T13:49:25Z</dcterms:modified>
</cp:coreProperties>
</file>